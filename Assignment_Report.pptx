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5532100" cy="20104100"/>
  <p:notesSz cx="155321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538" y="-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5383" y="6232271"/>
            <a:ext cx="1320768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17365C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0767" y="11258296"/>
            <a:ext cx="1087691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7274" y="2043409"/>
            <a:ext cx="12895580" cy="25400"/>
          </a:xfrm>
          <a:custGeom>
            <a:avLst/>
            <a:gdLst/>
            <a:ahLst/>
            <a:cxnLst/>
            <a:rect l="l" t="t" r="r" b="b"/>
            <a:pathLst>
              <a:path w="12895580" h="25400">
                <a:moveTo>
                  <a:pt x="12895053" y="25383"/>
                </a:moveTo>
                <a:lnTo>
                  <a:pt x="0" y="25383"/>
                </a:lnTo>
                <a:lnTo>
                  <a:pt x="0" y="0"/>
                </a:lnTo>
                <a:lnTo>
                  <a:pt x="12895053" y="0"/>
                </a:lnTo>
                <a:lnTo>
                  <a:pt x="12895053" y="25383"/>
                </a:lnTo>
                <a:close/>
              </a:path>
            </a:pathLst>
          </a:custGeom>
          <a:solidFill>
            <a:srgbClr val="4E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7365C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7365C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6922" y="4623943"/>
            <a:ext cx="675922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02301" y="4623943"/>
            <a:ext cx="6759226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7365C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32160" y="1075422"/>
            <a:ext cx="4560570" cy="86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17365C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6922" y="4623943"/>
            <a:ext cx="1398460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3073" y="18696814"/>
            <a:ext cx="497230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6922" y="18696814"/>
            <a:ext cx="357384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87684" y="18696814"/>
            <a:ext cx="3573843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90" dirty="0"/>
              <a:t>A</a:t>
            </a:r>
            <a:r>
              <a:rPr spc="-305" dirty="0"/>
              <a:t>SS</a:t>
            </a:r>
            <a:r>
              <a:rPr spc="200" dirty="0"/>
              <a:t>I</a:t>
            </a:r>
            <a:r>
              <a:rPr spc="-90" dirty="0"/>
              <a:t>G</a:t>
            </a:r>
            <a:r>
              <a:rPr spc="-210" dirty="0"/>
              <a:t>N</a:t>
            </a:r>
            <a:r>
              <a:rPr spc="-140" dirty="0"/>
              <a:t>M</a:t>
            </a:r>
            <a:r>
              <a:rPr spc="-355" dirty="0"/>
              <a:t>E</a:t>
            </a:r>
            <a:r>
              <a:rPr spc="-105" dirty="0"/>
              <a:t>N</a:t>
            </a:r>
            <a:r>
              <a:rPr spc="-175" dirty="0"/>
              <a:t>T</a:t>
            </a:r>
            <a:r>
              <a:rPr spc="-260" dirty="0"/>
              <a:t> </a:t>
            </a:r>
            <a:r>
              <a:rPr spc="-1135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8034" y="2368931"/>
            <a:ext cx="11647170" cy="217033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79830" algn="just">
              <a:lnSpc>
                <a:spcPct val="100000"/>
              </a:lnSpc>
              <a:spcBef>
                <a:spcPts val="130"/>
              </a:spcBef>
            </a:pPr>
            <a:r>
              <a:rPr sz="2400" spc="-229" dirty="0">
                <a:latin typeface="Roboto"/>
                <a:cs typeface="Roboto"/>
              </a:rPr>
              <a:t>Design,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Implement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Validate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Object-</a:t>
            </a:r>
            <a:r>
              <a:rPr sz="2400" spc="-225" dirty="0">
                <a:latin typeface="Roboto"/>
                <a:cs typeface="Roboto"/>
              </a:rPr>
              <a:t>Oriented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Model</a:t>
            </a:r>
            <a:r>
              <a:rPr sz="2400" spc="11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Campus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Smart-</a:t>
            </a:r>
            <a:r>
              <a:rPr sz="2400" spc="-235" dirty="0">
                <a:latin typeface="Roboto"/>
                <a:cs typeface="Roboto"/>
              </a:rPr>
              <a:t>Parking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System</a:t>
            </a:r>
            <a:endParaRPr sz="2400" dirty="0">
              <a:latin typeface="Roboto"/>
              <a:cs typeface="Roboto"/>
            </a:endParaRPr>
          </a:p>
          <a:p>
            <a:pPr marL="12700" marR="1133475" indent="2296795" algn="just">
              <a:lnSpc>
                <a:spcPct val="163100"/>
              </a:lnSpc>
              <a:tabLst>
                <a:tab pos="5147945" algn="l"/>
              </a:tabLst>
            </a:pPr>
            <a:r>
              <a:rPr sz="2400" spc="-245" dirty="0">
                <a:latin typeface="Roboto"/>
                <a:cs typeface="Roboto"/>
              </a:rPr>
              <a:t>Course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Outcome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2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: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Java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Fundamentals</a:t>
            </a:r>
            <a:r>
              <a:rPr sz="2400" spc="-21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Object-</a:t>
            </a:r>
            <a:r>
              <a:rPr sz="2400" spc="-229" dirty="0">
                <a:latin typeface="Roboto"/>
                <a:cs typeface="Roboto"/>
              </a:rPr>
              <a:t>Oriented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Programming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lang="en-IN" sz="2400" spc="-225" dirty="0">
                <a:latin typeface="Roboto"/>
                <a:cs typeface="Roboto"/>
              </a:rPr>
              <a:t>STUDENT</a:t>
            </a:r>
            <a:r>
              <a:rPr lang="en-IN" sz="2400" spc="-140" dirty="0">
                <a:latin typeface="Roboto"/>
                <a:cs typeface="Roboto"/>
              </a:rPr>
              <a:t> </a:t>
            </a:r>
            <a:r>
              <a:rPr lang="en-IN" sz="2400" spc="-270" dirty="0">
                <a:latin typeface="Roboto"/>
                <a:cs typeface="Roboto"/>
              </a:rPr>
              <a:t>NAME :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lang="en-IN" sz="2000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IN" sz="2400" spc="-150" dirty="0">
                <a:uFill>
                  <a:solidFill>
                    <a:srgbClr val="000000"/>
                  </a:solidFill>
                </a:u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ASHVANTH KUMAR</a:t>
            </a:r>
            <a:endParaRPr sz="2400" spc="-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" marR="6553834" algn="just">
              <a:lnSpc>
                <a:spcPts val="4700"/>
              </a:lnSpc>
              <a:spcBef>
                <a:spcPts val="360"/>
              </a:spcBef>
              <a:tabLst>
                <a:tab pos="4995545" algn="l"/>
                <a:tab pos="5084445" algn="l"/>
              </a:tabLst>
            </a:pPr>
            <a:r>
              <a:rPr lang="en-IN" sz="2400" spc="-215" dirty="0">
                <a:latin typeface="Roboto"/>
                <a:cs typeface="Roboto"/>
              </a:rPr>
              <a:t>REGISTER</a:t>
            </a:r>
            <a:r>
              <a:rPr lang="en-IN" sz="2400" spc="-20" dirty="0">
                <a:latin typeface="Roboto"/>
                <a:cs typeface="Roboto"/>
              </a:rPr>
              <a:t> </a:t>
            </a:r>
            <a:r>
              <a:rPr lang="en-IN" sz="2400" spc="-265" dirty="0">
                <a:latin typeface="Roboto"/>
                <a:cs typeface="Roboto"/>
              </a:rPr>
              <a:t>NUMBER</a:t>
            </a:r>
            <a:r>
              <a:rPr sz="2400" spc="-265" dirty="0">
                <a:latin typeface="Roboto"/>
                <a:cs typeface="Roboto"/>
              </a:rPr>
              <a:t>:</a:t>
            </a:r>
            <a:r>
              <a:rPr lang="en-IN" sz="2400" spc="310">
                <a:latin typeface="Roboto"/>
                <a:cs typeface="Roboto"/>
              </a:rPr>
              <a:t> </a:t>
            </a:r>
            <a:r>
              <a:rPr lang="en-IN" sz="2400" spc="-150">
                <a:uFill>
                  <a:solidFill>
                    <a:srgbClr val="000000"/>
                  </a:solidFill>
                </a:u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1965260017</a:t>
            </a:r>
            <a:r>
              <a:rPr lang="en-IN" sz="2400" spc="-15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sz="2400" spc="-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034" y="1101636"/>
            <a:ext cx="12803505" cy="17820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710"/>
              </a:lnSpc>
              <a:spcBef>
                <a:spcPts val="114"/>
              </a:spcBef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505" dirty="0">
                <a:solidFill>
                  <a:srgbClr val="365E90"/>
                </a:solidFill>
                <a:latin typeface="Arial"/>
                <a:cs typeface="Arial"/>
              </a:rPr>
              <a:t>1</a:t>
            </a:r>
            <a:r>
              <a:rPr sz="3100" b="1" spc="2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10" dirty="0">
                <a:solidFill>
                  <a:srgbClr val="365E90"/>
                </a:solidFill>
                <a:latin typeface="Arial"/>
                <a:cs typeface="Arial"/>
              </a:rPr>
              <a:t>Understand</a:t>
            </a:r>
            <a:r>
              <a:rPr sz="3100" b="1" spc="-1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2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50" dirty="0">
                <a:solidFill>
                  <a:srgbClr val="365E90"/>
                </a:solidFill>
                <a:latin typeface="Arial"/>
                <a:cs typeface="Arial"/>
              </a:rPr>
              <a:t>Problem</a:t>
            </a: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 and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365E90"/>
                </a:solidFill>
                <a:latin typeface="Arial"/>
                <a:cs typeface="Arial"/>
              </a:rPr>
              <a:t>Identify</a:t>
            </a:r>
            <a:r>
              <a:rPr sz="3100" b="1" spc="-34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0" dirty="0">
                <a:solidFill>
                  <a:srgbClr val="365E90"/>
                </a:solidFill>
                <a:latin typeface="Arial"/>
                <a:cs typeface="Arial"/>
              </a:rPr>
              <a:t>Objects</a:t>
            </a:r>
            <a:endParaRPr sz="3100">
              <a:latin typeface="Arial"/>
              <a:cs typeface="Arial"/>
            </a:endParaRPr>
          </a:p>
          <a:p>
            <a:pPr marL="12700" marR="5080">
              <a:lnSpc>
                <a:spcPts val="2700"/>
              </a:lnSpc>
              <a:spcBef>
                <a:spcPts val="229"/>
              </a:spcBef>
            </a:pP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system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manages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multi-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campus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facility.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Inputs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include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type, </a:t>
            </a:r>
            <a:r>
              <a:rPr sz="2400" spc="-204" dirty="0">
                <a:latin typeface="Roboto"/>
                <a:cs typeface="Roboto"/>
              </a:rPr>
              <a:t>entry/exit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time,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configuration,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charging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energy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validity.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Outputs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include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allocated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slot,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40" dirty="0">
                <a:latin typeface="Roboto"/>
                <a:cs typeface="Roboto"/>
              </a:rPr>
              <a:t>unique </a:t>
            </a:r>
            <a:r>
              <a:rPr sz="2400" spc="-195" dirty="0">
                <a:latin typeface="Roboto"/>
                <a:cs typeface="Roboto"/>
              </a:rPr>
              <a:t>ticket,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fee,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whether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release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entry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25" dirty="0">
                <a:latin typeface="Roboto"/>
                <a:cs typeface="Roboto"/>
              </a:rPr>
              <a:t>succeeded.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400" spc="-225" dirty="0">
                <a:latin typeface="Roboto"/>
                <a:cs typeface="Roboto"/>
              </a:rPr>
              <a:t>Candidate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classes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135" dirty="0">
                <a:latin typeface="Roboto"/>
                <a:cs typeface="Roboto"/>
              </a:rPr>
              <a:t>responsibilities: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790"/>
              </a:lnSpc>
              <a:spcBef>
                <a:spcPts val="1814"/>
              </a:spcBef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20" dirty="0">
                <a:latin typeface="Roboto"/>
                <a:cs typeface="Roboto"/>
              </a:rPr>
              <a:t>Vehicle: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stores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defines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305" dirty="0">
                <a:latin typeface="Roboto"/>
                <a:cs typeface="Roboto"/>
              </a:rPr>
              <a:t>common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fee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05" dirty="0">
                <a:latin typeface="Roboto"/>
                <a:cs typeface="Roboto"/>
              </a:rPr>
              <a:t>behaviour.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65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50" dirty="0">
                <a:latin typeface="Roboto"/>
                <a:cs typeface="Roboto"/>
              </a:rPr>
              <a:t>TwoWheeler,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Car,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ElectricCar,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EBike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DeliveryVan: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specialise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pricing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90" dirty="0">
                <a:latin typeface="Roboto"/>
                <a:cs typeface="Roboto"/>
              </a:rPr>
              <a:t>capabilities.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65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10" dirty="0">
                <a:latin typeface="Roboto"/>
                <a:cs typeface="Roboto"/>
              </a:rPr>
              <a:t>ParkingFacility: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owns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floor/slot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data,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allocates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releases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slots,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tracks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active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tickets.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70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20" dirty="0">
                <a:latin typeface="Roboto"/>
                <a:cs typeface="Roboto"/>
              </a:rPr>
              <a:t>ParkingTicket: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records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unique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number,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vehicle,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entry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time.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65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25" dirty="0">
                <a:latin typeface="Roboto"/>
                <a:cs typeface="Roboto"/>
              </a:rPr>
              <a:t>Chargeable: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describes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ability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calculate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EV</a:t>
            </a:r>
            <a:r>
              <a:rPr sz="2400" spc="-2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charging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fees.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74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25" dirty="0">
                <a:latin typeface="Roboto"/>
                <a:cs typeface="Roboto"/>
              </a:rPr>
              <a:t>ParkingPass,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MonthlyPass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OneDayPass: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represent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40" dirty="0">
                <a:latin typeface="Roboto"/>
                <a:cs typeface="Roboto"/>
              </a:rPr>
              <a:t>validity.</a:t>
            </a:r>
            <a:endParaRPr sz="2400">
              <a:latin typeface="Roboto"/>
              <a:cs typeface="Roboto"/>
            </a:endParaRPr>
          </a:p>
          <a:p>
            <a:pPr marL="12700" marR="271145">
              <a:lnSpc>
                <a:spcPts val="2700"/>
              </a:lnSpc>
              <a:spcBef>
                <a:spcPts val="2055"/>
              </a:spcBef>
            </a:pPr>
            <a:r>
              <a:rPr sz="2400" spc="-240" dirty="0">
                <a:latin typeface="Roboto"/>
                <a:cs typeface="Roboto"/>
              </a:rPr>
              <a:t>Business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rules: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one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per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slot;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cannot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have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two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active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tickets;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not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reused;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0" dirty="0">
                <a:latin typeface="Roboto"/>
                <a:cs typeface="Roboto"/>
              </a:rPr>
              <a:t>full </a:t>
            </a:r>
            <a:r>
              <a:rPr sz="2400" spc="-165" dirty="0">
                <a:latin typeface="Roboto"/>
                <a:cs typeface="Roboto"/>
              </a:rPr>
              <a:t>facility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returns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no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allocation;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invalid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positions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are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rejected;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exit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time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cannot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precede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entry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time;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valid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14" dirty="0">
                <a:latin typeface="Roboto"/>
                <a:cs typeface="Roboto"/>
              </a:rPr>
              <a:t>eligible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makes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fee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zero.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Assumptions: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first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available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allocated;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are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535"/>
              </a:lnSpc>
            </a:pPr>
            <a:r>
              <a:rPr sz="2400" spc="-229" dirty="0">
                <a:latin typeface="Roboto"/>
                <a:cs typeface="Roboto"/>
              </a:rPr>
              <a:t>case-</a:t>
            </a:r>
            <a:r>
              <a:rPr sz="2400" spc="-200" dirty="0">
                <a:latin typeface="Roboto"/>
                <a:cs typeface="Roboto"/>
              </a:rPr>
              <a:t>insensitive;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started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hours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rounded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up;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rates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documented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310" dirty="0">
                <a:latin typeface="Roboto"/>
                <a:cs typeface="Roboto"/>
              </a:rPr>
              <a:t>README.</a:t>
            </a:r>
            <a:endParaRPr sz="2400">
              <a:latin typeface="Roboto"/>
              <a:cs typeface="Roboto"/>
            </a:endParaRPr>
          </a:p>
          <a:p>
            <a:pPr marL="12700" marR="187325">
              <a:lnSpc>
                <a:spcPct val="92800"/>
              </a:lnSpc>
              <a:spcBef>
                <a:spcPts val="2025"/>
              </a:spcBef>
            </a:pPr>
            <a:r>
              <a:rPr sz="2400" spc="-204" dirty="0">
                <a:latin typeface="Roboto"/>
                <a:cs typeface="Roboto"/>
              </a:rPr>
              <a:t>Alternative: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parallel</a:t>
            </a:r>
            <a:r>
              <a:rPr sz="2400" spc="12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arrays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String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regNo[],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String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type[],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LocalDateTime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entryTime[]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need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matching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indexes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and </a:t>
            </a:r>
            <a:r>
              <a:rPr sz="2400" spc="-220" dirty="0">
                <a:latin typeface="Roboto"/>
                <a:cs typeface="Roboto"/>
              </a:rPr>
              <a:t>coordinated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updates.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Linear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search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55" dirty="0">
                <a:latin typeface="Roboto"/>
                <a:cs typeface="Roboto"/>
              </a:rPr>
              <a:t>by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O(n)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either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design.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object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groups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related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state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and </a:t>
            </a:r>
            <a:r>
              <a:rPr sz="2400" spc="-215" dirty="0">
                <a:latin typeface="Roboto"/>
                <a:cs typeface="Roboto"/>
              </a:rPr>
              <a:t>behaviour,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making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new</a:t>
            </a:r>
            <a:r>
              <a:rPr sz="2400" spc="-27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attribute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easier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to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add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one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class;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parallel</a:t>
            </a:r>
            <a:r>
              <a:rPr sz="2400" spc="9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arrays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require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another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array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careful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70" dirty="0">
                <a:latin typeface="Roboto"/>
                <a:cs typeface="Roboto"/>
              </a:rPr>
              <a:t>index </a:t>
            </a:r>
            <a:r>
              <a:rPr sz="2400" spc="-235" dirty="0">
                <a:latin typeface="Roboto"/>
                <a:cs typeface="Roboto"/>
              </a:rPr>
              <a:t>alignment.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Both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store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O(n)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records;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object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references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plus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object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headers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add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some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overhead,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while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String </a:t>
            </a:r>
            <a:r>
              <a:rPr sz="2400" spc="-225" dirty="0">
                <a:latin typeface="Roboto"/>
                <a:cs typeface="Roboto"/>
              </a:rPr>
              <a:t>reference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array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stores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references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only.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40" dirty="0">
                <a:solidFill>
                  <a:srgbClr val="365E90"/>
                </a:solidFill>
                <a:latin typeface="Arial"/>
                <a:cs typeface="Arial"/>
              </a:rPr>
              <a:t>2</a:t>
            </a:r>
            <a:r>
              <a:rPr sz="3100" b="1" spc="-24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8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30" dirty="0">
                <a:solidFill>
                  <a:srgbClr val="365E90"/>
                </a:solidFill>
                <a:latin typeface="Arial"/>
                <a:cs typeface="Arial"/>
              </a:rPr>
              <a:t>Choose</a:t>
            </a:r>
            <a:r>
              <a:rPr sz="3100" b="1" spc="-38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Data</a:t>
            </a:r>
            <a:r>
              <a:rPr sz="3100" b="1" spc="-24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Representation</a:t>
            </a:r>
            <a:endParaRPr sz="3100">
              <a:latin typeface="Arial"/>
              <a:cs typeface="Arial"/>
            </a:endParaRPr>
          </a:p>
          <a:p>
            <a:pPr marL="12700" marR="113664">
              <a:lnSpc>
                <a:spcPct val="92000"/>
              </a:lnSpc>
              <a:spcBef>
                <a:spcPts val="220"/>
              </a:spcBef>
            </a:pPr>
            <a:r>
              <a:rPr sz="2400" spc="-250" dirty="0">
                <a:latin typeface="Roboto"/>
                <a:cs typeface="Roboto"/>
              </a:rPr>
              <a:t>Use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String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numbers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because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they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contain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letters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leading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zeros;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int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floor,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50" dirty="0">
                <a:latin typeface="Roboto"/>
                <a:cs typeface="Roboto"/>
              </a:rPr>
              <a:t>charging </a:t>
            </a:r>
            <a:r>
              <a:rPr sz="2400" spc="-265" dirty="0">
                <a:latin typeface="Roboto"/>
                <a:cs typeface="Roboto"/>
              </a:rPr>
              <a:t>kWh;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long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I</a:t>
            </a:r>
            <a:r>
              <a:rPr sz="2400" spc="-36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Ds;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LocalDateTime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timestamps;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int/long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minutes;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double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values.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Use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String[][]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as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jagged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array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because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each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contain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different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of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slots.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null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means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free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slot.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Scanner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is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700"/>
              </a:lnSpc>
            </a:pPr>
            <a:r>
              <a:rPr sz="2400" spc="-200" dirty="0">
                <a:latin typeface="Roboto"/>
                <a:cs typeface="Roboto"/>
              </a:rPr>
              <a:t>suitable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interactive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input;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command-</a:t>
            </a:r>
            <a:r>
              <a:rPr sz="2400" spc="-185" dirty="0">
                <a:latin typeface="Roboto"/>
                <a:cs typeface="Roboto"/>
              </a:rPr>
              <a:t>line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arguments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are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useful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simple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automated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runs.</a:t>
            </a:r>
            <a:endParaRPr sz="2400">
              <a:latin typeface="Roboto"/>
              <a:cs typeface="Roboto"/>
            </a:endParaRPr>
          </a:p>
          <a:p>
            <a:pPr marL="12700" marR="817244">
              <a:lnSpc>
                <a:spcPts val="2700"/>
              </a:lnSpc>
              <a:spcBef>
                <a:spcPts val="1955"/>
              </a:spcBef>
            </a:pPr>
            <a:r>
              <a:rPr sz="2400" spc="-204" dirty="0">
                <a:latin typeface="Roboto"/>
                <a:cs typeface="Roboto"/>
              </a:rPr>
              <a:t>Integer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division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undercharge: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25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30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/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60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equals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2,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not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335" dirty="0">
                <a:latin typeface="Roboto"/>
                <a:cs typeface="Roboto"/>
              </a:rPr>
              <a:t>2.1</a:t>
            </a:r>
            <a:r>
              <a:rPr sz="2400" spc="-24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7.</a:t>
            </a:r>
            <a:r>
              <a:rPr sz="2400" spc="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Since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every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started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hour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charged,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use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14" dirty="0">
                <a:latin typeface="Roboto"/>
                <a:cs typeface="Roboto"/>
              </a:rPr>
              <a:t>ceiling </a:t>
            </a:r>
            <a:r>
              <a:rPr sz="2400" spc="-204" dirty="0">
                <a:latin typeface="Roboto"/>
                <a:cs typeface="Roboto"/>
              </a:rPr>
              <a:t>division: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(minutes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+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59)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/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60.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For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2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30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minutes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this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gives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3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billable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hours.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Avoid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casting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after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integer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division </a:t>
            </a:r>
            <a:r>
              <a:rPr sz="2400" spc="-240" dirty="0">
                <a:latin typeface="Roboto"/>
                <a:cs typeface="Roboto"/>
              </a:rPr>
              <a:t>because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fractional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part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has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already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been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lost.</a:t>
            </a:r>
            <a:endParaRPr sz="2400">
              <a:latin typeface="Roboto"/>
              <a:cs typeface="Roboto"/>
            </a:endParaRPr>
          </a:p>
          <a:p>
            <a:pPr marL="12700" marR="127000">
              <a:lnSpc>
                <a:spcPts val="2700"/>
              </a:lnSpc>
              <a:spcBef>
                <a:spcPts val="1895"/>
              </a:spcBef>
            </a:pPr>
            <a:r>
              <a:rPr sz="2400" spc="-204" dirty="0">
                <a:latin typeface="Roboto"/>
                <a:cs typeface="Roboto"/>
              </a:rPr>
              <a:t>Alternative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representations: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flat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one-</a:t>
            </a:r>
            <a:r>
              <a:rPr sz="2400" spc="-240" dirty="0">
                <a:latin typeface="Roboto"/>
                <a:cs typeface="Roboto"/>
              </a:rPr>
              <a:t>dimensional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array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needs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index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formula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straightforward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only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300" dirty="0">
                <a:latin typeface="Roboto"/>
                <a:cs typeface="Roboto"/>
              </a:rPr>
              <a:t>when </a:t>
            </a:r>
            <a:r>
              <a:rPr sz="2400" spc="-245" dirty="0">
                <a:latin typeface="Roboto"/>
                <a:cs typeface="Roboto"/>
              </a:rPr>
              <a:t>each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has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equal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counts;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with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unequal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counts,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offsets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must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be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stored.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28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jagged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array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uses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O(S)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space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50" dirty="0">
                <a:latin typeface="Roboto"/>
                <a:cs typeface="Roboto"/>
              </a:rPr>
              <a:t>S </a:t>
            </a:r>
            <a:r>
              <a:rPr sz="2400" spc="-204" dirty="0">
                <a:latin typeface="Roboto"/>
                <a:cs typeface="Roboto"/>
              </a:rPr>
              <a:t>total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slots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checks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particular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2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).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Finding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first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free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by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scanning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O(S).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305" dirty="0">
                <a:latin typeface="Roboto"/>
                <a:cs typeface="Roboto"/>
              </a:rPr>
              <a:t>An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445"/>
              </a:lnSpc>
            </a:pPr>
            <a:r>
              <a:rPr sz="2400" spc="-204" dirty="0">
                <a:latin typeface="Roboto"/>
                <a:cs typeface="Roboto"/>
              </a:rPr>
              <a:t>ArrayList&lt;String[]&gt;also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supports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unequal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sizes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adds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collection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overhead;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locating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known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remains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790"/>
              </a:lnSpc>
            </a:pP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by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100" dirty="0">
                <a:latin typeface="Roboto"/>
                <a:cs typeface="Roboto"/>
              </a:rPr>
              <a:t>indexes.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75" dirty="0">
                <a:solidFill>
                  <a:srgbClr val="365E90"/>
                </a:solidFill>
                <a:latin typeface="Arial"/>
                <a:cs typeface="Arial"/>
              </a:rPr>
              <a:t>3</a:t>
            </a:r>
            <a:r>
              <a:rPr sz="3100" b="1" spc="-22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5" dirty="0">
                <a:solidFill>
                  <a:srgbClr val="365E90"/>
                </a:solidFill>
                <a:latin typeface="Arial"/>
                <a:cs typeface="Arial"/>
              </a:rPr>
              <a:t>Design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8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0" dirty="0">
                <a:solidFill>
                  <a:srgbClr val="365E90"/>
                </a:solidFill>
                <a:latin typeface="Arial"/>
                <a:cs typeface="Arial"/>
              </a:rPr>
              <a:t>Control</a:t>
            </a:r>
            <a:r>
              <a:rPr sz="3100" b="1" spc="-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5" dirty="0">
                <a:solidFill>
                  <a:srgbClr val="365E90"/>
                </a:solidFill>
                <a:latin typeface="Arial"/>
                <a:cs typeface="Arial"/>
              </a:rPr>
              <a:t>Logic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ts val="2870"/>
              </a:lnSpc>
            </a:pPr>
            <a:r>
              <a:rPr sz="2400" spc="-190" dirty="0">
                <a:latin typeface="Roboto"/>
                <a:cs typeface="Roboto"/>
              </a:rPr>
              <a:t>Slot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allocation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150" dirty="0">
                <a:latin typeface="Roboto"/>
                <a:cs typeface="Roboto"/>
              </a:rPr>
              <a:t>pseudocode: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2050" spc="-254" dirty="0">
                <a:latin typeface="Roboto"/>
                <a:cs typeface="Roboto"/>
              </a:rPr>
              <a:t>FOReach</a:t>
            </a:r>
            <a:r>
              <a:rPr sz="2050" spc="-290" dirty="0">
                <a:latin typeface="Roboto"/>
                <a:cs typeface="Roboto"/>
              </a:rPr>
              <a:t> </a:t>
            </a:r>
            <a:r>
              <a:rPr sz="2050" spc="-10" dirty="0">
                <a:latin typeface="Roboto"/>
                <a:cs typeface="Roboto"/>
              </a:rPr>
              <a:t>floorf</a:t>
            </a:r>
            <a:endParaRPr sz="2050">
              <a:latin typeface="Roboto"/>
              <a:cs typeface="Roboto"/>
            </a:endParaRPr>
          </a:p>
          <a:p>
            <a:pPr marL="202565" marR="10593705" indent="-88900">
              <a:lnSpc>
                <a:spcPct val="101600"/>
              </a:lnSpc>
            </a:pPr>
            <a:r>
              <a:rPr sz="2050" spc="-254" dirty="0">
                <a:latin typeface="Roboto"/>
                <a:cs typeface="Roboto"/>
              </a:rPr>
              <a:t>FOReach</a:t>
            </a:r>
            <a:r>
              <a:rPr sz="2050" spc="-265" dirty="0">
                <a:latin typeface="Roboto"/>
                <a:cs typeface="Roboto"/>
              </a:rPr>
              <a:t> </a:t>
            </a:r>
            <a:r>
              <a:rPr sz="2050" spc="-200" dirty="0">
                <a:latin typeface="Roboto"/>
                <a:cs typeface="Roboto"/>
              </a:rPr>
              <a:t>slotson</a:t>
            </a:r>
            <a:r>
              <a:rPr sz="2050" spc="-260" dirty="0">
                <a:latin typeface="Roboto"/>
                <a:cs typeface="Roboto"/>
              </a:rPr>
              <a:t> </a:t>
            </a:r>
            <a:r>
              <a:rPr sz="2050" spc="-155" dirty="0">
                <a:latin typeface="Roboto"/>
                <a:cs typeface="Roboto"/>
              </a:rPr>
              <a:t>floorf </a:t>
            </a:r>
            <a:r>
              <a:rPr sz="2050" spc="-180" dirty="0">
                <a:latin typeface="Roboto"/>
                <a:cs typeface="Roboto"/>
              </a:rPr>
              <a:t>IFslot[f][s]</a:t>
            </a:r>
            <a:r>
              <a:rPr sz="2050" spc="-155" dirty="0">
                <a:latin typeface="Roboto"/>
                <a:cs typeface="Roboto"/>
              </a:rPr>
              <a:t> </a:t>
            </a:r>
            <a:r>
              <a:rPr sz="2050" spc="-60" dirty="0">
                <a:latin typeface="Roboto"/>
                <a:cs typeface="Roboto"/>
              </a:rPr>
              <a:t>isempty</a:t>
            </a:r>
            <a:endParaRPr sz="2050">
              <a:latin typeface="Roboto"/>
              <a:cs typeface="Roboto"/>
            </a:endParaRPr>
          </a:p>
          <a:p>
            <a:pPr marL="304165" marR="9780270">
              <a:lnSpc>
                <a:spcPct val="101600"/>
              </a:lnSpc>
            </a:pPr>
            <a:r>
              <a:rPr sz="2050" spc="-200" dirty="0">
                <a:latin typeface="Roboto"/>
                <a:cs typeface="Roboto"/>
              </a:rPr>
              <a:t>storevehiclenumberinslot[f][s] </a:t>
            </a:r>
            <a:r>
              <a:rPr sz="2050" spc="-229" dirty="0">
                <a:latin typeface="Roboto"/>
                <a:cs typeface="Roboto"/>
              </a:rPr>
              <a:t>return</a:t>
            </a:r>
            <a:r>
              <a:rPr sz="2050" spc="-280" dirty="0">
                <a:latin typeface="Roboto"/>
                <a:cs typeface="Roboto"/>
              </a:rPr>
              <a:t> </a:t>
            </a:r>
            <a:r>
              <a:rPr sz="2050" spc="-190" dirty="0">
                <a:latin typeface="Roboto"/>
                <a:cs typeface="Roboto"/>
              </a:rPr>
              <a:t>{f,</a:t>
            </a:r>
            <a:r>
              <a:rPr sz="2050" spc="-254" dirty="0">
                <a:latin typeface="Roboto"/>
                <a:cs typeface="Roboto"/>
              </a:rPr>
              <a:t> </a:t>
            </a:r>
            <a:r>
              <a:rPr sz="2050" spc="-25" dirty="0">
                <a:latin typeface="Roboto"/>
                <a:cs typeface="Roboto"/>
              </a:rPr>
              <a:t>s}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050" spc="-160" dirty="0">
                <a:latin typeface="Roboto"/>
                <a:cs typeface="Roboto"/>
              </a:rPr>
              <a:t>RETURNnoslot(null)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2400" spc="-250" dirty="0">
                <a:latin typeface="Roboto"/>
                <a:cs typeface="Roboto"/>
              </a:rPr>
              <a:t>Fee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55" dirty="0">
                <a:latin typeface="Roboto"/>
                <a:cs typeface="Roboto"/>
              </a:rPr>
              <a:t>pseudocode: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034" y="1120299"/>
            <a:ext cx="12820015" cy="173069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235" dirty="0">
                <a:latin typeface="Roboto"/>
                <a:cs typeface="Roboto"/>
              </a:rPr>
              <a:t>IFminutes&lt;0:</a:t>
            </a:r>
            <a:r>
              <a:rPr sz="2050" spc="-125" dirty="0">
                <a:latin typeface="Roboto"/>
                <a:cs typeface="Roboto"/>
              </a:rPr>
              <a:t> </a:t>
            </a:r>
            <a:r>
              <a:rPr sz="2050" spc="-110" dirty="0">
                <a:latin typeface="Roboto"/>
                <a:cs typeface="Roboto"/>
              </a:rPr>
              <a:t>rejectinput</a:t>
            </a:r>
            <a:endParaRPr sz="2050">
              <a:latin typeface="Roboto"/>
              <a:cs typeface="Roboto"/>
            </a:endParaRPr>
          </a:p>
          <a:p>
            <a:pPr marL="12700" marR="8687435">
              <a:lnSpc>
                <a:spcPct val="101600"/>
              </a:lnSpc>
            </a:pPr>
            <a:r>
              <a:rPr sz="2050" spc="-240" dirty="0">
                <a:latin typeface="Roboto"/>
                <a:cs typeface="Roboto"/>
              </a:rPr>
              <a:t>hours=</a:t>
            </a:r>
            <a:r>
              <a:rPr sz="2050" spc="-235" dirty="0">
                <a:latin typeface="Roboto"/>
                <a:cs typeface="Roboto"/>
              </a:rPr>
              <a:t> </a:t>
            </a:r>
            <a:r>
              <a:rPr sz="2050" spc="-225" dirty="0">
                <a:latin typeface="Roboto"/>
                <a:cs typeface="Roboto"/>
              </a:rPr>
              <a:t>(minutes+59)</a:t>
            </a:r>
            <a:r>
              <a:rPr sz="2050" spc="-130" dirty="0">
                <a:latin typeface="Roboto"/>
                <a:cs typeface="Roboto"/>
              </a:rPr>
              <a:t> </a:t>
            </a:r>
            <a:r>
              <a:rPr sz="2050" spc="-204" dirty="0">
                <a:latin typeface="Roboto"/>
                <a:cs typeface="Roboto"/>
              </a:rPr>
              <a:t>/60using</a:t>
            </a:r>
            <a:r>
              <a:rPr sz="2050" spc="-265" dirty="0">
                <a:latin typeface="Roboto"/>
                <a:cs typeface="Roboto"/>
              </a:rPr>
              <a:t> </a:t>
            </a:r>
            <a:r>
              <a:rPr sz="2050" spc="-195" dirty="0">
                <a:latin typeface="Roboto"/>
                <a:cs typeface="Roboto"/>
              </a:rPr>
              <a:t>integerdivision fee=</a:t>
            </a:r>
            <a:r>
              <a:rPr sz="2050" spc="-270" dirty="0">
                <a:latin typeface="Roboto"/>
                <a:cs typeface="Roboto"/>
              </a:rPr>
              <a:t> </a:t>
            </a:r>
            <a:r>
              <a:rPr sz="2050" spc="-160" dirty="0">
                <a:latin typeface="Roboto"/>
                <a:cs typeface="Roboto"/>
              </a:rPr>
              <a:t>hours*hourlyRate</a:t>
            </a:r>
            <a:endParaRPr sz="2050">
              <a:latin typeface="Roboto"/>
              <a:cs typeface="Roboto"/>
            </a:endParaRPr>
          </a:p>
          <a:p>
            <a:pPr marL="12700" marR="9281160">
              <a:lnSpc>
                <a:spcPct val="101600"/>
              </a:lnSpc>
            </a:pPr>
            <a:r>
              <a:rPr sz="2050" spc="-195" dirty="0">
                <a:latin typeface="Roboto"/>
                <a:cs typeface="Roboto"/>
              </a:rPr>
              <a:t>IFvehicle</a:t>
            </a:r>
            <a:r>
              <a:rPr sz="2050" spc="-270" dirty="0">
                <a:latin typeface="Roboto"/>
                <a:cs typeface="Roboto"/>
              </a:rPr>
              <a:t> </a:t>
            </a:r>
            <a:r>
              <a:rPr sz="2050" spc="-225" dirty="0">
                <a:latin typeface="Roboto"/>
                <a:cs typeface="Roboto"/>
              </a:rPr>
              <a:t>ischargeable:</a:t>
            </a:r>
            <a:r>
              <a:rPr sz="2050" spc="-145" dirty="0">
                <a:latin typeface="Roboto"/>
                <a:cs typeface="Roboto"/>
              </a:rPr>
              <a:t> </a:t>
            </a:r>
            <a:r>
              <a:rPr sz="2050" spc="-285" dirty="0">
                <a:latin typeface="Roboto"/>
                <a:cs typeface="Roboto"/>
              </a:rPr>
              <a:t>add</a:t>
            </a:r>
            <a:r>
              <a:rPr sz="2050" spc="-270" dirty="0">
                <a:latin typeface="Roboto"/>
                <a:cs typeface="Roboto"/>
              </a:rPr>
              <a:t> </a:t>
            </a:r>
            <a:r>
              <a:rPr sz="2050" spc="-200" dirty="0">
                <a:latin typeface="Roboto"/>
                <a:cs typeface="Roboto"/>
              </a:rPr>
              <a:t>chargingfee IFan</a:t>
            </a:r>
            <a:r>
              <a:rPr sz="2050" spc="-235" dirty="0">
                <a:latin typeface="Roboto"/>
                <a:cs typeface="Roboto"/>
              </a:rPr>
              <a:t> </a:t>
            </a:r>
            <a:r>
              <a:rPr sz="2050" spc="-185" dirty="0">
                <a:latin typeface="Roboto"/>
                <a:cs typeface="Roboto"/>
              </a:rPr>
              <a:t>eligiblepassisvalid:</a:t>
            </a:r>
            <a:r>
              <a:rPr sz="2050" spc="-130" dirty="0">
                <a:latin typeface="Roboto"/>
                <a:cs typeface="Roboto"/>
              </a:rPr>
              <a:t> </a:t>
            </a:r>
            <a:r>
              <a:rPr sz="2050" spc="-20" dirty="0">
                <a:latin typeface="Roboto"/>
                <a:cs typeface="Roboto"/>
              </a:rPr>
              <a:t>fee=0 </a:t>
            </a:r>
            <a:r>
              <a:rPr sz="2050" spc="-145" dirty="0">
                <a:latin typeface="Roboto"/>
                <a:cs typeface="Roboto"/>
              </a:rPr>
              <a:t>RETURNfee</a:t>
            </a:r>
            <a:endParaRPr sz="20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700">
              <a:latin typeface="Roboto"/>
              <a:cs typeface="Roboto"/>
            </a:endParaRPr>
          </a:p>
          <a:p>
            <a:pPr marL="12700" marR="434340" algn="just">
              <a:lnSpc>
                <a:spcPct val="92000"/>
              </a:lnSpc>
            </a:pP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supplied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Task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3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code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completed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Task03/ParkingFacility.java.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155" dirty="0">
                <a:latin typeface="Roboto"/>
                <a:cs typeface="Roboto"/>
              </a:rPr>
              <a:t>It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validates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floor/slot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indexes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returns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false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slot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invalid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or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already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empty.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break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stop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search,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continue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skips </a:t>
            </a:r>
            <a:r>
              <a:rPr sz="2400" spc="-200" dirty="0">
                <a:latin typeface="Roboto"/>
                <a:cs typeface="Roboto"/>
              </a:rPr>
              <a:t>unsuitable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slots,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return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exits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immediately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result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is</a:t>
            </a:r>
            <a:r>
              <a:rPr sz="2400" spc="-21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found.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125" dirty="0">
                <a:latin typeface="Roboto"/>
                <a:cs typeface="Roboto"/>
              </a:rPr>
              <a:t>If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all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slots</a:t>
            </a:r>
            <a:r>
              <a:rPr sz="2400" spc="-21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are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full,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allocate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returns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null.</a:t>
            </a:r>
            <a:endParaRPr sz="2400">
              <a:latin typeface="Roboto"/>
              <a:cs typeface="Roboto"/>
            </a:endParaRPr>
          </a:p>
          <a:p>
            <a:pPr marL="12700" marR="5080" algn="just">
              <a:lnSpc>
                <a:spcPct val="92000"/>
              </a:lnSpc>
              <a:spcBef>
                <a:spcPts val="2050"/>
              </a:spcBef>
            </a:pPr>
            <a:r>
              <a:rPr sz="2400" spc="-200" dirty="0">
                <a:latin typeface="Roboto"/>
                <a:cs typeface="Roboto"/>
              </a:rPr>
              <a:t>Alternative: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stack/list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of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free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slot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coordinates </a:t>
            </a:r>
            <a:r>
              <a:rPr sz="2400" spc="-225" dirty="0">
                <a:latin typeface="Roboto"/>
                <a:cs typeface="Roboto"/>
              </a:rPr>
              <a:t>can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make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allocation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release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approximately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265" dirty="0">
                <a:latin typeface="Roboto"/>
                <a:cs typeface="Roboto"/>
              </a:rPr>
              <a:t> </a:t>
            </a:r>
            <a:r>
              <a:rPr sz="2400" spc="-145" dirty="0">
                <a:latin typeface="Roboto"/>
                <a:cs typeface="Roboto"/>
              </a:rPr>
              <a:t>),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with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O(S)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extra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space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for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the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free-</a:t>
            </a:r>
            <a:r>
              <a:rPr sz="2400" spc="-190" dirty="0">
                <a:latin typeface="Roboto"/>
                <a:cs typeface="Roboto"/>
              </a:rPr>
              <a:t>slot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structure.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A</a:t>
            </a:r>
            <a:r>
              <a:rPr sz="2400" spc="-30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scan-</a:t>
            </a:r>
            <a:r>
              <a:rPr sz="2400" spc="-240" dirty="0">
                <a:latin typeface="Roboto"/>
                <a:cs typeface="Roboto"/>
              </a:rPr>
              <a:t>based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allocation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O(S)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worst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case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release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50" dirty="0">
                <a:latin typeface="Roboto"/>
                <a:cs typeface="Roboto"/>
              </a:rPr>
              <a:t>by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known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indexes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26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).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A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per-</a:t>
            </a:r>
            <a:r>
              <a:rPr sz="2400" spc="-180" dirty="0">
                <a:latin typeface="Roboto"/>
                <a:cs typeface="Roboto"/>
              </a:rPr>
              <a:t>floor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free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count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helps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detect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full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floors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does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not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by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itself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identify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free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slot;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combining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counts</a:t>
            </a:r>
            <a:r>
              <a:rPr sz="2400" spc="-21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with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free-</a:t>
            </a:r>
            <a:r>
              <a:rPr sz="2400" spc="-190" dirty="0">
                <a:latin typeface="Roboto"/>
                <a:cs typeface="Roboto"/>
              </a:rPr>
              <a:t>slot</a:t>
            </a:r>
            <a:endParaRPr sz="2400">
              <a:latin typeface="Roboto"/>
              <a:cs typeface="Roboto"/>
            </a:endParaRPr>
          </a:p>
          <a:p>
            <a:pPr marL="12700" algn="just">
              <a:lnSpc>
                <a:spcPts val="2700"/>
              </a:lnSpc>
            </a:pPr>
            <a:r>
              <a:rPr sz="2400" spc="-180" dirty="0">
                <a:latin typeface="Roboto"/>
                <a:cs typeface="Roboto"/>
              </a:rPr>
              <a:t>lists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avoids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114" dirty="0">
                <a:latin typeface="Roboto"/>
                <a:cs typeface="Roboto"/>
              </a:rPr>
              <a:t>scanning.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365E90"/>
                </a:solidFill>
                <a:latin typeface="Arial"/>
                <a:cs typeface="Arial"/>
              </a:rPr>
              <a:t>4</a:t>
            </a:r>
            <a:r>
              <a:rPr sz="3100" b="1" spc="-28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5" dirty="0">
                <a:solidFill>
                  <a:srgbClr val="365E90"/>
                </a:solidFill>
                <a:latin typeface="Arial"/>
                <a:cs typeface="Arial"/>
              </a:rPr>
              <a:t>Design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0" dirty="0">
                <a:solidFill>
                  <a:srgbClr val="365E90"/>
                </a:solidFill>
                <a:latin typeface="Arial"/>
                <a:cs typeface="Arial"/>
              </a:rPr>
              <a:t>Classes,</a:t>
            </a:r>
            <a:r>
              <a:rPr sz="3100" b="1" spc="-14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65" dirty="0">
                <a:solidFill>
                  <a:srgbClr val="365E90"/>
                </a:solidFill>
                <a:latin typeface="Arial"/>
                <a:cs typeface="Arial"/>
              </a:rPr>
              <a:t>Objects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and</a:t>
            </a:r>
            <a:r>
              <a:rPr sz="3100" b="1" spc="-26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0" dirty="0">
                <a:solidFill>
                  <a:srgbClr val="365E90"/>
                </a:solidFill>
                <a:latin typeface="Arial"/>
                <a:cs typeface="Arial"/>
              </a:rPr>
              <a:t>Constructors</a:t>
            </a:r>
            <a:endParaRPr sz="3100">
              <a:latin typeface="Arial"/>
              <a:cs typeface="Arial"/>
            </a:endParaRPr>
          </a:p>
          <a:p>
            <a:pPr marL="12700" marR="414655">
              <a:lnSpc>
                <a:spcPct val="92800"/>
              </a:lnSpc>
              <a:spcBef>
                <a:spcPts val="195"/>
              </a:spcBef>
            </a:pPr>
            <a:r>
              <a:rPr sz="2400" spc="-210" dirty="0">
                <a:latin typeface="Roboto"/>
                <a:cs typeface="Roboto"/>
              </a:rPr>
              <a:t>Vehicle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has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parameterised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constructor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that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validates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ParkingTicket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has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125" dirty="0">
                <a:latin typeface="Roboto"/>
                <a:cs typeface="Roboto"/>
              </a:rPr>
              <a:t>parameterised </a:t>
            </a:r>
            <a:r>
              <a:rPr sz="2400" spc="-220" dirty="0">
                <a:latin typeface="Roboto"/>
                <a:cs typeface="Roboto"/>
              </a:rPr>
              <a:t>constructor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validating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number,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vehicle,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floor,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entry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time.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Constructors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initialise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objects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valid </a:t>
            </a:r>
            <a:r>
              <a:rPr sz="2400" spc="-220" dirty="0">
                <a:latin typeface="Roboto"/>
                <a:cs typeface="Roboto"/>
              </a:rPr>
              <a:t>state.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keyword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this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refers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current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object;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constructor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chaining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reduce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repeated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validation.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0" dirty="0">
                <a:latin typeface="Roboto"/>
                <a:cs typeface="Roboto"/>
              </a:rPr>
              <a:t>copy </a:t>
            </a:r>
            <a:r>
              <a:rPr sz="2400" spc="-220" dirty="0">
                <a:latin typeface="Roboto"/>
                <a:cs typeface="Roboto"/>
              </a:rPr>
              <a:t>constructor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necessary</a:t>
            </a:r>
            <a:r>
              <a:rPr sz="2400" spc="-185" dirty="0">
                <a:latin typeface="Roboto"/>
                <a:cs typeface="Roboto"/>
              </a:rPr>
              <a:t> 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issuing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real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because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numbers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must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remain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unique;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copying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35" dirty="0">
                <a:latin typeface="Roboto"/>
                <a:cs typeface="Roboto"/>
              </a:rPr>
              <a:t>old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could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cause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20" dirty="0">
                <a:latin typeface="Roboto"/>
                <a:cs typeface="Roboto"/>
              </a:rPr>
              <a:t>duplication.</a:t>
            </a:r>
            <a:endParaRPr sz="2400">
              <a:latin typeface="Roboto"/>
              <a:cs typeface="Roboto"/>
            </a:endParaRPr>
          </a:p>
          <a:p>
            <a:pPr marL="12700" marR="28575" algn="just">
              <a:lnSpc>
                <a:spcPts val="2700"/>
              </a:lnSpc>
              <a:spcBef>
                <a:spcPts val="1960"/>
              </a:spcBef>
            </a:pPr>
            <a:r>
              <a:rPr sz="2400" spc="-260" dirty="0">
                <a:latin typeface="Roboto"/>
                <a:cs typeface="Roboto"/>
              </a:rPr>
              <a:t>Reference</a:t>
            </a:r>
            <a:r>
              <a:rPr sz="2400" spc="1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variables</a:t>
            </a:r>
            <a:r>
              <a:rPr sz="2400" spc="8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hold</a:t>
            </a:r>
            <a:r>
              <a:rPr sz="2400" spc="12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references</a:t>
            </a:r>
            <a:r>
              <a:rPr sz="2400" spc="100" dirty="0">
                <a:latin typeface="Roboto"/>
                <a:cs typeface="Roboto"/>
              </a:rPr>
              <a:t> </a:t>
            </a:r>
            <a:r>
              <a:rPr sz="2400" spc="-310" dirty="0">
                <a:latin typeface="Roboto"/>
                <a:cs typeface="Roboto"/>
              </a:rPr>
              <a:t>to</a:t>
            </a:r>
            <a:r>
              <a:rPr sz="2400" spc="16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objects.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Local</a:t>
            </a:r>
            <a:r>
              <a:rPr sz="2400" spc="1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references</a:t>
            </a:r>
            <a:r>
              <a:rPr sz="2400" spc="100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are</a:t>
            </a:r>
            <a:r>
              <a:rPr sz="2400" spc="135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commonly</a:t>
            </a:r>
            <a:r>
              <a:rPr sz="2400" spc="14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stored</a:t>
            </a:r>
            <a:r>
              <a:rPr sz="2400" spc="229" dirty="0">
                <a:latin typeface="Roboto"/>
                <a:cs typeface="Roboto"/>
              </a:rPr>
              <a:t> </a:t>
            </a:r>
            <a:r>
              <a:rPr sz="2400" spc="-375" dirty="0">
                <a:latin typeface="Roboto"/>
                <a:cs typeface="Roboto"/>
              </a:rPr>
              <a:t>in</a:t>
            </a:r>
            <a:r>
              <a:rPr sz="2400" spc="22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stack</a:t>
            </a:r>
            <a:r>
              <a:rPr sz="2400" spc="110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frames</a:t>
            </a:r>
            <a:r>
              <a:rPr sz="2400" spc="1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while</a:t>
            </a:r>
            <a:r>
              <a:rPr sz="2400" spc="250" dirty="0">
                <a:latin typeface="Roboto"/>
                <a:cs typeface="Roboto"/>
              </a:rPr>
              <a:t> </a:t>
            </a:r>
            <a:r>
              <a:rPr sz="2400" spc="-135" dirty="0">
                <a:latin typeface="Roboto"/>
                <a:cs typeface="Roboto"/>
              </a:rPr>
              <a:t>objects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allocated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on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heap.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Exact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implementation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details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JVM-</a:t>
            </a:r>
            <a:r>
              <a:rPr sz="2400" spc="-240" dirty="0">
                <a:latin typeface="Roboto"/>
                <a:cs typeface="Roboto"/>
              </a:rPr>
              <a:t>dependent.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provided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classes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use</a:t>
            </a:r>
            <a:endParaRPr sz="2400">
              <a:latin typeface="Roboto"/>
              <a:cs typeface="Roboto"/>
            </a:endParaRPr>
          </a:p>
          <a:p>
            <a:pPr marL="12700" algn="just">
              <a:lnSpc>
                <a:spcPts val="2635"/>
              </a:lnSpc>
            </a:pPr>
            <a:r>
              <a:rPr sz="2400" spc="-235" dirty="0">
                <a:latin typeface="Roboto"/>
                <a:cs typeface="Roboto"/>
              </a:rPr>
              <a:t>parameterised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constructors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immutable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30" dirty="0">
                <a:latin typeface="Roboto"/>
                <a:cs typeface="Roboto"/>
              </a:rPr>
              <a:t>fields.</a:t>
            </a:r>
            <a:endParaRPr sz="2400">
              <a:latin typeface="Roboto"/>
              <a:cs typeface="Roboto"/>
            </a:endParaRPr>
          </a:p>
          <a:p>
            <a:pPr marL="12700" marR="40005" algn="just">
              <a:lnSpc>
                <a:spcPts val="2700"/>
              </a:lnSpc>
              <a:spcBef>
                <a:spcPts val="1955"/>
              </a:spcBef>
            </a:pPr>
            <a:r>
              <a:rPr sz="2400" spc="-200" dirty="0">
                <a:latin typeface="Roboto"/>
                <a:cs typeface="Roboto"/>
              </a:rPr>
              <a:t>Alternative: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default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constructor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plus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setters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permits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temporarily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invalid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objects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unless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every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setter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the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workflow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enforce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invariants.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Static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factory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methods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validate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return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only </a:t>
            </a:r>
            <a:r>
              <a:rPr sz="2400" spc="-195" dirty="0">
                <a:latin typeface="Roboto"/>
                <a:cs typeface="Roboto"/>
              </a:rPr>
              <a:t>valid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objects.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Creating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n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objects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O(n)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time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O(n)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object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storage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in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all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three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approaches;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constructor/factory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choice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does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not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change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asymptotic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complexity,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though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setters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add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repeated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validation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work.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50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60" dirty="0">
                <a:solidFill>
                  <a:srgbClr val="365E90"/>
                </a:solidFill>
                <a:latin typeface="Arial"/>
                <a:cs typeface="Arial"/>
              </a:rPr>
              <a:t>5</a:t>
            </a:r>
            <a:r>
              <a:rPr sz="3100" b="1" spc="-229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8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535" dirty="0">
                <a:solidFill>
                  <a:srgbClr val="365E90"/>
                </a:solidFill>
                <a:latin typeface="Arial"/>
                <a:cs typeface="Arial"/>
              </a:rPr>
              <a:t>A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p</a:t>
            </a:r>
            <a:r>
              <a:rPr sz="3100" b="1" spc="-380" dirty="0">
                <a:solidFill>
                  <a:srgbClr val="365E90"/>
                </a:solidFill>
                <a:latin typeface="Arial"/>
                <a:cs typeface="Arial"/>
              </a:rPr>
              <a:t>p</a:t>
            </a:r>
            <a:r>
              <a:rPr sz="3100" b="1" spc="-10" dirty="0">
                <a:solidFill>
                  <a:srgbClr val="365E90"/>
                </a:solidFill>
                <a:latin typeface="Arial"/>
                <a:cs typeface="Arial"/>
              </a:rPr>
              <a:t>l</a:t>
            </a:r>
            <a:r>
              <a:rPr sz="3100" b="1" spc="-180" dirty="0">
                <a:solidFill>
                  <a:srgbClr val="365E90"/>
                </a:solidFill>
                <a:latin typeface="Arial"/>
                <a:cs typeface="Arial"/>
              </a:rPr>
              <a:t>y</a:t>
            </a:r>
            <a:r>
              <a:rPr sz="3100" b="1" spc="-45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04" dirty="0">
                <a:solidFill>
                  <a:srgbClr val="365E90"/>
                </a:solidFill>
                <a:latin typeface="Arial"/>
                <a:cs typeface="Arial"/>
              </a:rPr>
              <a:t>static</a:t>
            </a:r>
            <a:r>
              <a:rPr sz="3100" b="1" spc="-21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Members</a:t>
            </a:r>
            <a:r>
              <a:rPr sz="3100" b="1" spc="-36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85" dirty="0">
                <a:solidFill>
                  <a:srgbClr val="365E90"/>
                </a:solidFill>
                <a:latin typeface="Arial"/>
                <a:cs typeface="Arial"/>
              </a:rPr>
              <a:t>and</a:t>
            </a:r>
            <a:r>
              <a:rPr sz="3100" b="1" spc="-26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65" dirty="0">
                <a:solidFill>
                  <a:srgbClr val="365E90"/>
                </a:solidFill>
                <a:latin typeface="Arial"/>
                <a:cs typeface="Arial"/>
              </a:rPr>
              <a:t>Object</a:t>
            </a:r>
            <a:r>
              <a:rPr sz="3100" b="1" spc="-26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85" dirty="0">
                <a:solidFill>
                  <a:srgbClr val="365E90"/>
                </a:solidFill>
                <a:latin typeface="Arial"/>
                <a:cs typeface="Arial"/>
              </a:rPr>
              <a:t>Life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5" dirty="0">
                <a:solidFill>
                  <a:srgbClr val="365E90"/>
                </a:solidFill>
                <a:latin typeface="Arial"/>
                <a:cs typeface="Arial"/>
              </a:rPr>
              <a:t>Cycle</a:t>
            </a:r>
            <a:endParaRPr sz="3100">
              <a:latin typeface="Arial"/>
              <a:cs typeface="Arial"/>
            </a:endParaRPr>
          </a:p>
          <a:p>
            <a:pPr marL="12700" marR="95885">
              <a:lnSpc>
                <a:spcPts val="2600"/>
              </a:lnSpc>
              <a:spcBef>
                <a:spcPts val="309"/>
              </a:spcBef>
            </a:pP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0" dirty="0">
                <a:latin typeface="Roboto"/>
                <a:cs typeface="Roboto"/>
              </a:rPr>
              <a:t> is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static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because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shared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across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ParkingFacility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instances.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instance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would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restart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every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facility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could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generate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duplicate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95" dirty="0">
                <a:latin typeface="Roboto"/>
                <a:cs typeface="Roboto"/>
              </a:rPr>
              <a:t>if</a:t>
            </a:r>
            <a:r>
              <a:rPr sz="2400" spc="-229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global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uniqueness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required.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565"/>
              </a:lnSpc>
            </a:pPr>
            <a:r>
              <a:rPr sz="2400" spc="-180" dirty="0">
                <a:latin typeface="Roboto"/>
                <a:cs typeface="Roboto"/>
              </a:rPr>
              <a:t>A </a:t>
            </a:r>
            <a:r>
              <a:rPr sz="2400" spc="-190" dirty="0">
                <a:latin typeface="Roboto"/>
                <a:cs typeface="Roboto"/>
              </a:rPr>
              <a:t>static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method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could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expose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global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report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or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value,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while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static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block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only </a:t>
            </a:r>
            <a:r>
              <a:rPr sz="2400" spc="-235" dirty="0">
                <a:latin typeface="Roboto"/>
                <a:cs typeface="Roboto"/>
              </a:rPr>
              <a:t>useful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one-</a:t>
            </a:r>
            <a:r>
              <a:rPr sz="2400" spc="-204" dirty="0">
                <a:latin typeface="Roboto"/>
                <a:cs typeface="Roboto"/>
              </a:rPr>
              <a:t>time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class</a:t>
            </a:r>
            <a:endParaRPr sz="2400">
              <a:latin typeface="Roboto"/>
              <a:cs typeface="Roboto"/>
            </a:endParaRPr>
          </a:p>
          <a:p>
            <a:pPr marL="12700" marR="8255">
              <a:lnSpc>
                <a:spcPts val="2600"/>
              </a:lnSpc>
              <a:spcBef>
                <a:spcPts val="225"/>
              </a:spcBef>
            </a:pPr>
            <a:r>
              <a:rPr sz="2400" spc="-180" dirty="0">
                <a:latin typeface="Roboto"/>
                <a:cs typeface="Roboto"/>
              </a:rPr>
              <a:t>initialisation.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When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leaves,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145" dirty="0">
                <a:latin typeface="Roboto"/>
                <a:cs typeface="Roboto"/>
              </a:rPr>
              <a:t>its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active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removed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from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map;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vehicle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become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05" dirty="0">
                <a:latin typeface="Roboto"/>
                <a:cs typeface="Roboto"/>
              </a:rPr>
              <a:t>eligible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garbage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collection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no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reachable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references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60" dirty="0">
                <a:latin typeface="Roboto"/>
                <a:cs typeface="Roboto"/>
              </a:rPr>
              <a:t>remain.</a:t>
            </a:r>
            <a:endParaRPr sz="2400">
              <a:latin typeface="Roboto"/>
              <a:cs typeface="Roboto"/>
            </a:endParaRPr>
          </a:p>
          <a:p>
            <a:pPr marL="12700" marR="104775">
              <a:lnSpc>
                <a:spcPct val="92500"/>
              </a:lnSpc>
              <a:spcBef>
                <a:spcPts val="1995"/>
              </a:spcBef>
            </a:pPr>
            <a:r>
              <a:rPr sz="2400" spc="-225" dirty="0">
                <a:latin typeface="Roboto"/>
                <a:cs typeface="Roboto"/>
              </a:rPr>
              <a:t>Objects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passed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through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references: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park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receives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Vehicle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returns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ParkingTicket.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consumes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space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regardless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of</a:t>
            </a:r>
            <a:r>
              <a:rPr sz="2400" spc="-130" dirty="0">
                <a:latin typeface="Roboto"/>
                <a:cs typeface="Roboto"/>
              </a:rPr>
              <a:t> k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facility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objects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tickets.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per-</a:t>
            </a:r>
            <a:r>
              <a:rPr sz="2400" spc="-165" dirty="0">
                <a:latin typeface="Roboto"/>
                <a:cs typeface="Roboto"/>
              </a:rPr>
              <a:t>facility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uses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O(k)</a:t>
            </a:r>
            <a:r>
              <a:rPr sz="2400" spc="4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space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can </a:t>
            </a:r>
            <a:r>
              <a:rPr sz="2400" spc="-220" dirty="0">
                <a:latin typeface="Roboto"/>
                <a:cs typeface="Roboto"/>
              </a:rPr>
              <a:t>provide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independent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per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facility;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single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static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uses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space,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40" dirty="0">
                <a:latin typeface="Roboto"/>
                <a:cs typeface="Roboto"/>
              </a:rPr>
              <a:t>requires </a:t>
            </a:r>
            <a:r>
              <a:rPr sz="2400" spc="-225" dirty="0">
                <a:latin typeface="Roboto"/>
                <a:cs typeface="Roboto"/>
              </a:rPr>
              <a:t>synchronisation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concurrent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access.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sample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increments</a:t>
            </a:r>
            <a:r>
              <a:rPr sz="2400" spc="-180" dirty="0">
                <a:latin typeface="Roboto"/>
                <a:cs typeface="Roboto"/>
              </a:rPr>
              <a:t> the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counter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inside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synchronized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park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method.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  <a:spcBef>
                <a:spcPts val="5"/>
              </a:spcBef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40" dirty="0">
                <a:solidFill>
                  <a:srgbClr val="365E90"/>
                </a:solidFill>
                <a:latin typeface="Arial"/>
                <a:cs typeface="Arial"/>
              </a:rPr>
              <a:t>6</a:t>
            </a:r>
            <a:r>
              <a:rPr sz="3100" b="1" spc="-23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7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5" dirty="0">
                <a:solidFill>
                  <a:srgbClr val="365E90"/>
                </a:solidFill>
                <a:latin typeface="Arial"/>
                <a:cs typeface="Arial"/>
              </a:rPr>
              <a:t>Design</a:t>
            </a:r>
            <a:r>
              <a:rPr sz="3100" b="1" spc="-24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9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6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40" dirty="0">
                <a:solidFill>
                  <a:srgbClr val="365E90"/>
                </a:solidFill>
                <a:latin typeface="Arial"/>
                <a:cs typeface="Arial"/>
              </a:rPr>
              <a:t>Inheritance</a:t>
            </a:r>
            <a:r>
              <a:rPr sz="3100" b="1" spc="-26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00" dirty="0">
                <a:solidFill>
                  <a:srgbClr val="365E90"/>
                </a:solidFill>
                <a:latin typeface="Arial"/>
                <a:cs typeface="Arial"/>
              </a:rPr>
              <a:t>Hierarchy</a:t>
            </a:r>
            <a:endParaRPr sz="3100">
              <a:latin typeface="Arial"/>
              <a:cs typeface="Arial"/>
            </a:endParaRPr>
          </a:p>
          <a:p>
            <a:pPr marL="12700" marR="176530">
              <a:lnSpc>
                <a:spcPct val="92500"/>
              </a:lnSpc>
              <a:spcBef>
                <a:spcPts val="204"/>
              </a:spcBef>
            </a:pPr>
            <a:r>
              <a:rPr sz="2400" spc="-21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abstract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superclass.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TwoWheeler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Car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extend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Vehicle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(hierarchical</a:t>
            </a:r>
            <a:r>
              <a:rPr sz="2400" spc="114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inheritance).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70" dirty="0">
                <a:latin typeface="Roboto"/>
                <a:cs typeface="Roboto"/>
              </a:rPr>
              <a:t>ElectricCar </a:t>
            </a:r>
            <a:r>
              <a:rPr sz="2400" spc="-229" dirty="0">
                <a:latin typeface="Roboto"/>
                <a:cs typeface="Roboto"/>
              </a:rPr>
              <a:t>extends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Car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implements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Chargeable.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EBike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extends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TwoWheeler;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DeliveryVan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extends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Car.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Shared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50" dirty="0">
                <a:latin typeface="Roboto"/>
                <a:cs typeface="Roboto"/>
              </a:rPr>
              <a:t>registration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behaviour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belong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Vehicle,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while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subclasses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specialise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rates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rules.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super(...)</a:t>
            </a:r>
            <a:r>
              <a:rPr sz="2400" spc="4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calls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parent </a:t>
            </a:r>
            <a:r>
              <a:rPr sz="2400" spc="-220" dirty="0">
                <a:latin typeface="Roboto"/>
                <a:cs typeface="Roboto"/>
              </a:rPr>
              <a:t>constructor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first.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034" y="1120094"/>
            <a:ext cx="12781280" cy="172053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60" dirty="0">
                <a:latin typeface="Roboto"/>
                <a:cs typeface="Roboto"/>
              </a:rPr>
              <a:t>Vehicle(abstract)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700" spc="275" dirty="0">
                <a:latin typeface="Segoe UI Symbol"/>
                <a:cs typeface="Segoe UI Symbol"/>
              </a:rPr>
              <a:t>├──</a:t>
            </a:r>
            <a:r>
              <a:rPr sz="1700" spc="-260" dirty="0">
                <a:latin typeface="Segoe UI Symbol"/>
                <a:cs typeface="Segoe UI Symbol"/>
              </a:rPr>
              <a:t> </a:t>
            </a:r>
            <a:r>
              <a:rPr sz="2050" spc="-285" dirty="0">
                <a:latin typeface="Roboto"/>
                <a:cs typeface="Roboto"/>
              </a:rPr>
              <a:t>TwoWheeler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700" spc="345" dirty="0">
                <a:latin typeface="Segoe UI Symbol"/>
                <a:cs typeface="Segoe UI Symbol"/>
              </a:rPr>
              <a:t>│</a:t>
            </a:r>
            <a:r>
              <a:rPr sz="1700" spc="80" dirty="0">
                <a:latin typeface="Segoe UI Symbol"/>
                <a:cs typeface="Segoe UI Symbol"/>
              </a:rPr>
              <a:t>  </a:t>
            </a:r>
            <a:r>
              <a:rPr sz="1700" spc="-10" dirty="0">
                <a:latin typeface="Segoe UI Symbol"/>
                <a:cs typeface="Segoe UI Symbol"/>
              </a:rPr>
              <a:t>└──</a:t>
            </a:r>
            <a:r>
              <a:rPr sz="2050" spc="-10" dirty="0">
                <a:latin typeface="Roboto"/>
                <a:cs typeface="Roboto"/>
              </a:rPr>
              <a:t>EBike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700" spc="275" dirty="0">
                <a:latin typeface="Segoe UI Symbol"/>
                <a:cs typeface="Segoe UI Symbol"/>
              </a:rPr>
              <a:t>└──</a:t>
            </a:r>
            <a:r>
              <a:rPr sz="1700" spc="-260" dirty="0">
                <a:latin typeface="Segoe UI Symbol"/>
                <a:cs typeface="Segoe UI Symbol"/>
              </a:rPr>
              <a:t> </a:t>
            </a:r>
            <a:r>
              <a:rPr sz="2050" spc="-285" dirty="0">
                <a:latin typeface="Roboto"/>
                <a:cs typeface="Roboto"/>
              </a:rPr>
              <a:t>Car</a:t>
            </a:r>
            <a:endParaRPr sz="2050">
              <a:latin typeface="Roboto"/>
              <a:cs typeface="Roboto"/>
            </a:endParaRPr>
          </a:p>
          <a:p>
            <a:pPr marL="202565">
              <a:lnSpc>
                <a:spcPct val="100000"/>
              </a:lnSpc>
              <a:spcBef>
                <a:spcPts val="40"/>
              </a:spcBef>
            </a:pPr>
            <a:r>
              <a:rPr sz="1700" spc="-150" dirty="0">
                <a:latin typeface="Segoe UI Symbol"/>
                <a:cs typeface="Segoe UI Symbol"/>
              </a:rPr>
              <a:t>├──</a:t>
            </a:r>
            <a:r>
              <a:rPr sz="2050" spc="-150" dirty="0">
                <a:latin typeface="Roboto"/>
                <a:cs typeface="Roboto"/>
              </a:rPr>
              <a:t>ElectricCarimplementsChargeable</a:t>
            </a:r>
            <a:endParaRPr sz="2050">
              <a:latin typeface="Roboto"/>
              <a:cs typeface="Roboto"/>
            </a:endParaRPr>
          </a:p>
          <a:p>
            <a:pPr marL="202565">
              <a:lnSpc>
                <a:spcPct val="100000"/>
              </a:lnSpc>
              <a:spcBef>
                <a:spcPts val="40"/>
              </a:spcBef>
            </a:pPr>
            <a:r>
              <a:rPr sz="1700" spc="-50" dirty="0">
                <a:latin typeface="Segoe UI Symbol"/>
                <a:cs typeface="Segoe UI Symbol"/>
              </a:rPr>
              <a:t>└──</a:t>
            </a:r>
            <a:r>
              <a:rPr sz="2050" spc="-50" dirty="0">
                <a:latin typeface="Roboto"/>
                <a:cs typeface="Roboto"/>
              </a:rPr>
              <a:t>DeliveryVan</a:t>
            </a:r>
            <a:endParaRPr sz="20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700">
              <a:latin typeface="Roboto"/>
              <a:cs typeface="Roboto"/>
            </a:endParaRPr>
          </a:p>
          <a:p>
            <a:pPr marL="12700" marR="33020">
              <a:lnSpc>
                <a:spcPct val="92800"/>
              </a:lnSpc>
              <a:spcBef>
                <a:spcPts val="5"/>
              </a:spcBef>
            </a:pPr>
            <a:r>
              <a:rPr sz="2400" spc="-204" dirty="0">
                <a:latin typeface="Roboto"/>
                <a:cs typeface="Roboto"/>
              </a:rPr>
              <a:t>ElectricCar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constructor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trace: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ElectricCar(regNo)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calls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Car(regNo),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which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calls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Vehicle(regNo);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Vehicle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validates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and </a:t>
            </a:r>
            <a:r>
              <a:rPr sz="2400" spc="-225" dirty="0">
                <a:latin typeface="Roboto"/>
                <a:cs typeface="Roboto"/>
              </a:rPr>
              <a:t>stores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control</a:t>
            </a:r>
            <a:r>
              <a:rPr sz="2400" spc="9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returns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through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then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ElectricCar.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Composition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alternative: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Vehicle </a:t>
            </a:r>
            <a:r>
              <a:rPr sz="2400" spc="-235" dirty="0">
                <a:latin typeface="Roboto"/>
                <a:cs typeface="Roboto"/>
              </a:rPr>
              <a:t>could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hold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VehicleType/pricing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object.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Adding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type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then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require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only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new</a:t>
            </a:r>
            <a:r>
              <a:rPr sz="2400" spc="-2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strategy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object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rather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than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50" dirty="0">
                <a:latin typeface="Roboto"/>
                <a:cs typeface="Roboto"/>
              </a:rPr>
              <a:t>a </a:t>
            </a:r>
            <a:r>
              <a:rPr sz="2400" spc="-240" dirty="0">
                <a:latin typeface="Roboto"/>
                <a:cs typeface="Roboto"/>
              </a:rPr>
              <a:t>subclass.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Fee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calculation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2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either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design;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memory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240" dirty="0">
                <a:latin typeface="Roboto"/>
                <a:cs typeface="Roboto"/>
              </a:rPr>
              <a:t> )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per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with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composition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adding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55" dirty="0">
                <a:latin typeface="Roboto"/>
                <a:cs typeface="Roboto"/>
              </a:rPr>
              <a:t>reference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potentially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strategy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65" dirty="0">
                <a:latin typeface="Roboto"/>
                <a:cs typeface="Roboto"/>
              </a:rPr>
              <a:t>object.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  <a:spcBef>
                <a:spcPts val="5"/>
              </a:spcBef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60" dirty="0">
                <a:solidFill>
                  <a:srgbClr val="365E90"/>
                </a:solidFill>
                <a:latin typeface="Arial"/>
                <a:cs typeface="Arial"/>
              </a:rPr>
              <a:t>7</a:t>
            </a:r>
            <a:r>
              <a:rPr sz="3100" b="1" spc="-229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65" dirty="0">
                <a:solidFill>
                  <a:srgbClr val="365E90"/>
                </a:solidFill>
                <a:latin typeface="Arial"/>
                <a:cs typeface="Arial"/>
              </a:rPr>
              <a:t>Override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and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40" dirty="0">
                <a:solidFill>
                  <a:srgbClr val="365E90"/>
                </a:solidFill>
                <a:latin typeface="Arial"/>
                <a:cs typeface="Arial"/>
              </a:rPr>
              <a:t>Specialise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10" dirty="0">
                <a:solidFill>
                  <a:srgbClr val="365E90"/>
                </a:solidFill>
                <a:latin typeface="Arial"/>
                <a:cs typeface="Arial"/>
              </a:rPr>
              <a:t>Behaviour</a:t>
            </a:r>
            <a:endParaRPr sz="3100">
              <a:latin typeface="Arial"/>
              <a:cs typeface="Arial"/>
            </a:endParaRPr>
          </a:p>
          <a:p>
            <a:pPr marL="12700" marR="100965">
              <a:lnSpc>
                <a:spcPct val="92500"/>
              </a:lnSpc>
              <a:spcBef>
                <a:spcPts val="204"/>
              </a:spcBef>
            </a:pPr>
            <a:r>
              <a:rPr sz="2400" spc="-235" dirty="0">
                <a:latin typeface="Roboto"/>
                <a:cs typeface="Roboto"/>
              </a:rPr>
              <a:t>Subclasses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override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ratePerHour()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and,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where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necessary,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calculateFee().</a:t>
            </a:r>
            <a:r>
              <a:rPr sz="2400" spc="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@Override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asks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compiler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verify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45" dirty="0">
                <a:latin typeface="Roboto"/>
                <a:cs typeface="Roboto"/>
              </a:rPr>
              <a:t>that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method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truly </a:t>
            </a:r>
            <a:r>
              <a:rPr sz="2400" spc="-220" dirty="0">
                <a:latin typeface="Roboto"/>
                <a:cs typeface="Roboto"/>
              </a:rPr>
              <a:t>overrides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parent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method.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method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name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parameter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signature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must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match;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access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65" dirty="0">
                <a:latin typeface="Roboto"/>
                <a:cs typeface="Roboto"/>
              </a:rPr>
              <a:t>cannot </a:t>
            </a:r>
            <a:r>
              <a:rPr sz="2400" spc="-235" dirty="0">
                <a:latin typeface="Roboto"/>
                <a:cs typeface="Roboto"/>
              </a:rPr>
              <a:t>be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made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more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restrictive.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final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useful</a:t>
            </a:r>
            <a:r>
              <a:rPr sz="2400" spc="9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immutable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numbers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methods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that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must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not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be </a:t>
            </a:r>
            <a:r>
              <a:rPr sz="2400" spc="-245" dirty="0">
                <a:latin typeface="Roboto"/>
                <a:cs typeface="Roboto"/>
              </a:rPr>
              <a:t>changed.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equals()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hashCode()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equal</a:t>
            </a:r>
            <a:r>
              <a:rPr sz="2400" spc="10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have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equal</a:t>
            </a:r>
            <a:r>
              <a:rPr sz="2400" spc="1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hash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codes.</a:t>
            </a:r>
            <a:endParaRPr sz="2400">
              <a:latin typeface="Roboto"/>
              <a:cs typeface="Roboto"/>
            </a:endParaRPr>
          </a:p>
          <a:p>
            <a:pPr marL="12700" marR="565785">
              <a:lnSpc>
                <a:spcPts val="2700"/>
              </a:lnSpc>
              <a:spcBef>
                <a:spcPts val="1955"/>
              </a:spcBef>
            </a:pP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provided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exercise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intentionally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prints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true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ElectricCar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share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This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is </a:t>
            </a:r>
            <a:r>
              <a:rPr sz="2400" spc="-225" dirty="0">
                <a:latin typeface="Roboto"/>
                <a:cs typeface="Roboto"/>
              </a:rPr>
              <a:t>acceptable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only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95" dirty="0">
                <a:latin typeface="Roboto"/>
                <a:cs typeface="Roboto"/>
              </a:rPr>
              <a:t>if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defines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identity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regardless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of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subtype.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full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90" dirty="0">
                <a:latin typeface="Roboto"/>
                <a:cs typeface="Roboto"/>
              </a:rPr>
              <a:t>service, </a:t>
            </a:r>
            <a:r>
              <a:rPr sz="2400" spc="-210" dirty="0">
                <a:latin typeface="Roboto"/>
                <a:cs typeface="Roboto"/>
              </a:rPr>
              <a:t>duplicate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active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rejected.</a:t>
            </a:r>
            <a:r>
              <a:rPr sz="2400" spc="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Alternative: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one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calculateFee()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with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switch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on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60" dirty="0">
                <a:latin typeface="Roboto"/>
                <a:cs typeface="Roboto"/>
              </a:rPr>
              <a:t>type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445"/>
              </a:lnSpc>
            </a:pPr>
            <a:r>
              <a:rPr sz="2400" spc="-215" dirty="0">
                <a:latin typeface="Roboto"/>
                <a:cs typeface="Roboto"/>
              </a:rPr>
              <a:t>takes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330" dirty="0">
                <a:latin typeface="Roboto"/>
                <a:cs typeface="Roboto"/>
              </a:rPr>
              <a:t>O(1</a:t>
            </a:r>
            <a:r>
              <a:rPr sz="2400" spc="-240" dirty="0">
                <a:latin typeface="Roboto"/>
                <a:cs typeface="Roboto"/>
              </a:rPr>
              <a:t> )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fixed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finite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switch,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but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adding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type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require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editing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central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method.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Overriding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localises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the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790"/>
              </a:lnSpc>
            </a:pPr>
            <a:r>
              <a:rPr sz="2400" spc="-215" dirty="0">
                <a:latin typeface="Roboto"/>
                <a:cs typeface="Roboto"/>
              </a:rPr>
              <a:t>behaviour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reduces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changes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existing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code.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75" dirty="0">
                <a:solidFill>
                  <a:srgbClr val="365E90"/>
                </a:solidFill>
                <a:latin typeface="Arial"/>
                <a:cs typeface="Arial"/>
              </a:rPr>
              <a:t>8</a:t>
            </a:r>
            <a:r>
              <a:rPr sz="3100" b="1" spc="-22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535" dirty="0">
                <a:solidFill>
                  <a:srgbClr val="365E90"/>
                </a:solidFill>
                <a:latin typeface="Arial"/>
                <a:cs typeface="Arial"/>
              </a:rPr>
              <a:t>A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p</a:t>
            </a:r>
            <a:r>
              <a:rPr sz="3100" b="1" spc="-380" dirty="0">
                <a:solidFill>
                  <a:srgbClr val="365E90"/>
                </a:solidFill>
                <a:latin typeface="Arial"/>
                <a:cs typeface="Arial"/>
              </a:rPr>
              <a:t>p</a:t>
            </a:r>
            <a:r>
              <a:rPr sz="3100" b="1" spc="-10" dirty="0">
                <a:solidFill>
                  <a:srgbClr val="365E90"/>
                </a:solidFill>
                <a:latin typeface="Arial"/>
                <a:cs typeface="Arial"/>
              </a:rPr>
              <a:t>l</a:t>
            </a:r>
            <a:r>
              <a:rPr sz="3100" b="1" spc="-180" dirty="0">
                <a:solidFill>
                  <a:srgbClr val="365E90"/>
                </a:solidFill>
                <a:latin typeface="Arial"/>
                <a:cs typeface="Arial"/>
              </a:rPr>
              <a:t>y</a:t>
            </a:r>
            <a:r>
              <a:rPr sz="3100" b="1" spc="-45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0" dirty="0">
                <a:solidFill>
                  <a:srgbClr val="365E90"/>
                </a:solidFill>
                <a:latin typeface="Arial"/>
                <a:cs typeface="Arial"/>
              </a:rPr>
              <a:t>Polymorphism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ts val="2780"/>
              </a:lnSpc>
            </a:pPr>
            <a:r>
              <a:rPr sz="2400" spc="-225" dirty="0">
                <a:latin typeface="Roboto"/>
                <a:cs typeface="Roboto"/>
              </a:rPr>
              <a:t>Compile-</a:t>
            </a:r>
            <a:r>
              <a:rPr sz="2400" spc="-229" dirty="0">
                <a:latin typeface="Roboto"/>
                <a:cs typeface="Roboto"/>
              </a:rPr>
              <a:t>time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polymorphism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method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overloading,</a:t>
            </a:r>
            <a:r>
              <a:rPr sz="2400" spc="4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such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as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calculateFee(int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minutes)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305" dirty="0">
                <a:latin typeface="Roboto"/>
                <a:cs typeface="Roboto"/>
              </a:rPr>
              <a:t>and</a:t>
            </a:r>
            <a:endParaRPr sz="2400">
              <a:latin typeface="Roboto"/>
              <a:cs typeface="Roboto"/>
            </a:endParaRPr>
          </a:p>
          <a:p>
            <a:pPr marL="12700" marR="353695">
              <a:lnSpc>
                <a:spcPct val="92000"/>
              </a:lnSpc>
              <a:spcBef>
                <a:spcPts val="140"/>
              </a:spcBef>
            </a:pPr>
            <a:r>
              <a:rPr sz="2400" spc="-225" dirty="0">
                <a:latin typeface="Roboto"/>
                <a:cs typeface="Roboto"/>
              </a:rPr>
              <a:t>calculateFee(LocalDateTime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LocalDateTime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out);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compiler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chooses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based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on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argument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types.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40" dirty="0">
                <a:latin typeface="Roboto"/>
                <a:cs typeface="Roboto"/>
              </a:rPr>
              <a:t>Runtime </a:t>
            </a:r>
            <a:r>
              <a:rPr sz="2400" spc="-245" dirty="0">
                <a:latin typeface="Roboto"/>
                <a:cs typeface="Roboto"/>
              </a:rPr>
              <a:t>polymorphism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occurs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Vehicle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reference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points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to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or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TwoWheeler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Java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dispatches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actual </a:t>
            </a:r>
            <a:r>
              <a:rPr sz="2400" spc="-190" dirty="0">
                <a:latin typeface="Roboto"/>
                <a:cs typeface="Roboto"/>
              </a:rPr>
              <a:t>object</a:t>
            </a:r>
            <a:r>
              <a:rPr sz="2000" spc="-190" dirty="0">
                <a:latin typeface="Roboto"/>
                <a:cs typeface="Roboto"/>
              </a:rPr>
              <a:t>’</a:t>
            </a:r>
            <a:r>
              <a:rPr sz="2400" spc="-190" dirty="0">
                <a:latin typeface="Roboto"/>
                <a:cs typeface="Roboto"/>
              </a:rPr>
              <a:t>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overridden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method.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Upcasting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permits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single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Vehicle[]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to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hold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different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types.</a:t>
            </a:r>
            <a:endParaRPr sz="2400">
              <a:latin typeface="Roboto"/>
              <a:cs typeface="Roboto"/>
            </a:endParaRPr>
          </a:p>
          <a:p>
            <a:pPr marL="12700" marR="9978390">
              <a:lnSpc>
                <a:spcPct val="101600"/>
              </a:lnSpc>
              <a:spcBef>
                <a:spcPts val="1925"/>
              </a:spcBef>
            </a:pPr>
            <a:r>
              <a:rPr sz="2050" spc="-245" dirty="0">
                <a:latin typeface="Roboto"/>
                <a:cs typeface="Roboto"/>
              </a:rPr>
              <a:t>Declared</a:t>
            </a:r>
            <a:r>
              <a:rPr sz="2050" spc="-285" dirty="0">
                <a:latin typeface="Roboto"/>
                <a:cs typeface="Roboto"/>
              </a:rPr>
              <a:t> </a:t>
            </a:r>
            <a:r>
              <a:rPr sz="2050" spc="-240" dirty="0">
                <a:latin typeface="Roboto"/>
                <a:cs typeface="Roboto"/>
              </a:rPr>
              <a:t>reference</a:t>
            </a:r>
            <a:r>
              <a:rPr sz="2050" spc="-275" dirty="0">
                <a:latin typeface="Roboto"/>
                <a:cs typeface="Roboto"/>
              </a:rPr>
              <a:t> </a:t>
            </a:r>
            <a:r>
              <a:rPr sz="2050" spc="-240" dirty="0">
                <a:latin typeface="Roboto"/>
                <a:cs typeface="Roboto"/>
              </a:rPr>
              <a:t>type:</a:t>
            </a:r>
            <a:r>
              <a:rPr sz="2050" spc="-150" dirty="0">
                <a:latin typeface="Roboto"/>
                <a:cs typeface="Roboto"/>
              </a:rPr>
              <a:t> </a:t>
            </a:r>
            <a:r>
              <a:rPr sz="2050" spc="-215" dirty="0">
                <a:latin typeface="Roboto"/>
                <a:cs typeface="Roboto"/>
              </a:rPr>
              <a:t>Vehicle </a:t>
            </a:r>
            <a:r>
              <a:rPr sz="2050" spc="-254" dirty="0">
                <a:latin typeface="Roboto"/>
                <a:cs typeface="Roboto"/>
              </a:rPr>
              <a:t>Actual</a:t>
            </a:r>
            <a:r>
              <a:rPr sz="2050" spc="-140" dirty="0">
                <a:latin typeface="Roboto"/>
                <a:cs typeface="Roboto"/>
              </a:rPr>
              <a:t> </a:t>
            </a:r>
            <a:r>
              <a:rPr sz="2050" spc="-210" dirty="0">
                <a:latin typeface="Roboto"/>
                <a:cs typeface="Roboto"/>
              </a:rPr>
              <a:t>objecttype:</a:t>
            </a:r>
            <a:r>
              <a:rPr sz="2050" spc="-290" dirty="0">
                <a:latin typeface="Roboto"/>
                <a:cs typeface="Roboto"/>
              </a:rPr>
              <a:t> </a:t>
            </a:r>
            <a:r>
              <a:rPr sz="2050" spc="-114" dirty="0">
                <a:latin typeface="Roboto"/>
                <a:cs typeface="Roboto"/>
              </a:rPr>
              <a:t>ElectricCar </a:t>
            </a:r>
            <a:r>
              <a:rPr sz="2050" spc="-200" dirty="0">
                <a:latin typeface="Roboto"/>
                <a:cs typeface="Roboto"/>
              </a:rPr>
              <a:t>Call:</a:t>
            </a:r>
            <a:r>
              <a:rPr sz="2050" spc="-265" dirty="0">
                <a:latin typeface="Roboto"/>
                <a:cs typeface="Roboto"/>
              </a:rPr>
              <a:t> </a:t>
            </a:r>
            <a:r>
              <a:rPr sz="2050" spc="-240" dirty="0">
                <a:latin typeface="Roboto"/>
                <a:cs typeface="Roboto"/>
              </a:rPr>
              <a:t>v.calculateFee(1</a:t>
            </a:r>
            <a:r>
              <a:rPr sz="2050" spc="-155" dirty="0">
                <a:latin typeface="Roboto"/>
                <a:cs typeface="Roboto"/>
              </a:rPr>
              <a:t> </a:t>
            </a:r>
            <a:r>
              <a:rPr sz="2050" spc="-300" dirty="0">
                <a:latin typeface="Roboto"/>
                <a:cs typeface="Roboto"/>
              </a:rPr>
              <a:t>30)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50" spc="-254" dirty="0">
                <a:latin typeface="Roboto"/>
                <a:cs typeface="Roboto"/>
              </a:rPr>
              <a:t>Executed</a:t>
            </a:r>
            <a:r>
              <a:rPr sz="2050" spc="-275" dirty="0">
                <a:latin typeface="Roboto"/>
                <a:cs typeface="Roboto"/>
              </a:rPr>
              <a:t> </a:t>
            </a:r>
            <a:r>
              <a:rPr sz="2050" spc="-220" dirty="0">
                <a:latin typeface="Roboto"/>
                <a:cs typeface="Roboto"/>
              </a:rPr>
              <a:t>override:</a:t>
            </a:r>
            <a:r>
              <a:rPr sz="2050" spc="-285" dirty="0">
                <a:latin typeface="Roboto"/>
                <a:cs typeface="Roboto"/>
              </a:rPr>
              <a:t> </a:t>
            </a:r>
            <a:r>
              <a:rPr sz="2050" spc="-245" dirty="0">
                <a:latin typeface="Roboto"/>
                <a:cs typeface="Roboto"/>
              </a:rPr>
              <a:t>ratePerHour()</a:t>
            </a:r>
            <a:r>
              <a:rPr sz="2050" spc="-145" dirty="0">
                <a:latin typeface="Roboto"/>
                <a:cs typeface="Roboto"/>
              </a:rPr>
              <a:t> </a:t>
            </a:r>
            <a:r>
              <a:rPr sz="2050" spc="-235" dirty="0">
                <a:latin typeface="Roboto"/>
                <a:cs typeface="Roboto"/>
              </a:rPr>
              <a:t>fromCar,</a:t>
            </a:r>
            <a:r>
              <a:rPr sz="2050" spc="-229" dirty="0">
                <a:latin typeface="Roboto"/>
                <a:cs typeface="Roboto"/>
              </a:rPr>
              <a:t> inherited</a:t>
            </a:r>
            <a:r>
              <a:rPr sz="2050" spc="-275" dirty="0">
                <a:latin typeface="Roboto"/>
                <a:cs typeface="Roboto"/>
              </a:rPr>
              <a:t> </a:t>
            </a:r>
            <a:r>
              <a:rPr sz="2050" spc="-110" dirty="0">
                <a:latin typeface="Roboto"/>
                <a:cs typeface="Roboto"/>
              </a:rPr>
              <a:t>byElectricCar</a:t>
            </a:r>
            <a:endParaRPr sz="2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50" spc="-225" dirty="0">
                <a:latin typeface="Roboto"/>
                <a:cs typeface="Roboto"/>
              </a:rPr>
              <a:t>Result:</a:t>
            </a:r>
            <a:r>
              <a:rPr sz="2050" spc="-330" dirty="0">
                <a:latin typeface="Roboto"/>
                <a:cs typeface="Roboto"/>
              </a:rPr>
              <a:t> </a:t>
            </a:r>
            <a:r>
              <a:rPr sz="2050" spc="-210" dirty="0">
                <a:latin typeface="Roboto"/>
                <a:cs typeface="Roboto"/>
              </a:rPr>
              <a:t>3started</a:t>
            </a:r>
            <a:r>
              <a:rPr sz="2050" spc="-325" dirty="0">
                <a:latin typeface="Roboto"/>
                <a:cs typeface="Roboto"/>
              </a:rPr>
              <a:t> </a:t>
            </a:r>
            <a:r>
              <a:rPr sz="2050" spc="-160" dirty="0">
                <a:latin typeface="Roboto"/>
                <a:cs typeface="Roboto"/>
              </a:rPr>
              <a:t>hours×</a:t>
            </a:r>
            <a:r>
              <a:rPr sz="2050" spc="190" dirty="0">
                <a:latin typeface="Roboto"/>
                <a:cs typeface="Roboto"/>
              </a:rPr>
              <a:t> </a:t>
            </a:r>
            <a:r>
              <a:rPr sz="2050" spc="-195" dirty="0">
                <a:latin typeface="Roboto"/>
                <a:cs typeface="Roboto"/>
              </a:rPr>
              <a:t>Rs30=Rs90;</a:t>
            </a:r>
            <a:r>
              <a:rPr sz="2050" spc="-320" dirty="0">
                <a:latin typeface="Roboto"/>
                <a:cs typeface="Roboto"/>
              </a:rPr>
              <a:t> </a:t>
            </a:r>
            <a:r>
              <a:rPr sz="2050" spc="-240" dirty="0">
                <a:latin typeface="Roboto"/>
                <a:cs typeface="Roboto"/>
              </a:rPr>
              <a:t>then</a:t>
            </a:r>
            <a:r>
              <a:rPr sz="2050" spc="-305" dirty="0">
                <a:latin typeface="Roboto"/>
                <a:cs typeface="Roboto"/>
              </a:rPr>
              <a:t> </a:t>
            </a:r>
            <a:r>
              <a:rPr sz="2050" spc="-509" dirty="0">
                <a:latin typeface="Roboto"/>
                <a:cs typeface="Roboto"/>
              </a:rPr>
              <a:t>1</a:t>
            </a:r>
            <a:r>
              <a:rPr sz="2050" spc="-265" dirty="0">
                <a:latin typeface="Roboto"/>
                <a:cs typeface="Roboto"/>
              </a:rPr>
              <a:t> </a:t>
            </a:r>
            <a:r>
              <a:rPr sz="2050" spc="-160" dirty="0">
                <a:latin typeface="Roboto"/>
                <a:cs typeface="Roboto"/>
              </a:rPr>
              <a:t>0kWh×</a:t>
            </a:r>
            <a:r>
              <a:rPr sz="2050" spc="340" dirty="0">
                <a:latin typeface="Roboto"/>
                <a:cs typeface="Roboto"/>
              </a:rPr>
              <a:t> </a:t>
            </a:r>
            <a:r>
              <a:rPr sz="2050" spc="-285" dirty="0">
                <a:latin typeface="Roboto"/>
                <a:cs typeface="Roboto"/>
              </a:rPr>
              <a:t>Rs1</a:t>
            </a:r>
            <a:r>
              <a:rPr sz="2050" spc="-270" dirty="0">
                <a:latin typeface="Roboto"/>
                <a:cs typeface="Roboto"/>
              </a:rPr>
              <a:t> </a:t>
            </a:r>
            <a:r>
              <a:rPr sz="2050" spc="-210" dirty="0">
                <a:latin typeface="Roboto"/>
                <a:cs typeface="Roboto"/>
              </a:rPr>
              <a:t>2=</a:t>
            </a:r>
            <a:r>
              <a:rPr sz="2050" spc="-300" dirty="0">
                <a:latin typeface="Roboto"/>
                <a:cs typeface="Roboto"/>
              </a:rPr>
              <a:t> </a:t>
            </a:r>
            <a:r>
              <a:rPr sz="2050" spc="-235" dirty="0">
                <a:latin typeface="Roboto"/>
                <a:cs typeface="Roboto"/>
              </a:rPr>
              <a:t>Rs120;</a:t>
            </a:r>
            <a:r>
              <a:rPr sz="2050" spc="-215" dirty="0">
                <a:latin typeface="Roboto"/>
                <a:cs typeface="Roboto"/>
              </a:rPr>
              <a:t> </a:t>
            </a:r>
            <a:r>
              <a:rPr sz="2050" spc="-240" dirty="0">
                <a:latin typeface="Roboto"/>
                <a:cs typeface="Roboto"/>
              </a:rPr>
              <a:t>total</a:t>
            </a:r>
            <a:r>
              <a:rPr sz="2050" spc="-210" dirty="0">
                <a:latin typeface="Roboto"/>
                <a:cs typeface="Roboto"/>
              </a:rPr>
              <a:t> </a:t>
            </a:r>
            <a:r>
              <a:rPr sz="2050" spc="-280" dirty="0">
                <a:latin typeface="Roboto"/>
                <a:cs typeface="Roboto"/>
              </a:rPr>
              <a:t>Rs21</a:t>
            </a:r>
            <a:r>
              <a:rPr sz="2050" spc="-270" dirty="0">
                <a:latin typeface="Roboto"/>
                <a:cs typeface="Roboto"/>
              </a:rPr>
              <a:t> </a:t>
            </a:r>
            <a:r>
              <a:rPr sz="2050" spc="-25" dirty="0">
                <a:latin typeface="Roboto"/>
                <a:cs typeface="Roboto"/>
              </a:rPr>
              <a:t>0.</a:t>
            </a:r>
            <a:endParaRPr sz="20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700">
              <a:latin typeface="Roboto"/>
              <a:cs typeface="Roboto"/>
            </a:endParaRPr>
          </a:p>
          <a:p>
            <a:pPr marL="12700" marR="44450">
              <a:lnSpc>
                <a:spcPts val="2600"/>
              </a:lnSpc>
            </a:pP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completed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Task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8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exercise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in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Task08/FeeDemo.java.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Dynamic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dispatch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has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330" dirty="0">
                <a:latin typeface="Roboto"/>
                <a:cs typeface="Roboto"/>
              </a:rPr>
              <a:t>O(1</a:t>
            </a:r>
            <a:r>
              <a:rPr sz="2400" spc="-2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method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selection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in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the </a:t>
            </a:r>
            <a:r>
              <a:rPr sz="2400" spc="-254" dirty="0">
                <a:latin typeface="Roboto"/>
                <a:cs typeface="Roboto"/>
              </a:rPr>
              <a:t>usual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model.</a:t>
            </a:r>
            <a:r>
              <a:rPr sz="2400" spc="4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Explicit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instanceof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chains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may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perform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up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30" dirty="0">
                <a:latin typeface="Roboto"/>
                <a:cs typeface="Roboto"/>
              </a:rPr>
              <a:t>k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checks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30" dirty="0">
                <a:latin typeface="Roboto"/>
                <a:cs typeface="Roboto"/>
              </a:rPr>
              <a:t>k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types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grow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in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size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types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added.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70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  <a:spcBef>
                <a:spcPts val="5"/>
              </a:spcBef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95" dirty="0">
                <a:solidFill>
                  <a:srgbClr val="365E90"/>
                </a:solidFill>
                <a:latin typeface="Arial"/>
                <a:cs typeface="Arial"/>
              </a:rPr>
              <a:t>9</a:t>
            </a:r>
            <a:r>
              <a:rPr sz="3100" b="1" spc="-19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Introduce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Abstraction</a:t>
            </a:r>
            <a:endParaRPr sz="3100">
              <a:latin typeface="Arial"/>
              <a:cs typeface="Arial"/>
            </a:endParaRPr>
          </a:p>
          <a:p>
            <a:pPr marL="12700" marR="147955">
              <a:lnSpc>
                <a:spcPct val="92500"/>
              </a:lnSpc>
              <a:spcBef>
                <a:spcPts val="204"/>
              </a:spcBef>
            </a:pPr>
            <a:r>
              <a:rPr sz="2400" spc="-21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abstract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because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generic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has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no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single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meaningful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hourly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rate;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subclasses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supply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rate. </a:t>
            </a:r>
            <a:r>
              <a:rPr sz="2400" spc="-235" dirty="0">
                <a:latin typeface="Roboto"/>
                <a:cs typeface="Roboto"/>
              </a:rPr>
              <a:t>Chargeable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interface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because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charging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capability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that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only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some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vehicles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have.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class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can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extend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one </a:t>
            </a:r>
            <a:r>
              <a:rPr sz="2400" spc="-215" dirty="0">
                <a:latin typeface="Roboto"/>
                <a:cs typeface="Roboto"/>
              </a:rPr>
              <a:t>class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implement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multiple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interfaces.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Interface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default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methods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useful</a:t>
            </a:r>
            <a:r>
              <a:rPr sz="2400" spc="10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shared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optional</a:t>
            </a:r>
            <a:r>
              <a:rPr sz="2400" spc="10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behaviour;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80" dirty="0">
                <a:latin typeface="Roboto"/>
                <a:cs typeface="Roboto"/>
              </a:rPr>
              <a:t>static </a:t>
            </a:r>
            <a:r>
              <a:rPr sz="2400" spc="-204" dirty="0">
                <a:latin typeface="Roboto"/>
                <a:cs typeface="Roboto"/>
              </a:rPr>
              <a:t>interface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methods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provide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50" dirty="0">
                <a:latin typeface="Roboto"/>
                <a:cs typeface="Roboto"/>
              </a:rPr>
              <a:t>utility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05" dirty="0">
                <a:latin typeface="Roboto"/>
                <a:cs typeface="Roboto"/>
              </a:rPr>
              <a:t>functions.</a:t>
            </a:r>
            <a:endParaRPr sz="2400">
              <a:latin typeface="Roboto"/>
              <a:cs typeface="Roboto"/>
            </a:endParaRPr>
          </a:p>
          <a:p>
            <a:pPr marL="12700" marR="5080">
              <a:lnSpc>
                <a:spcPct val="92000"/>
              </a:lnSpc>
              <a:spcBef>
                <a:spcPts val="2045"/>
              </a:spcBef>
            </a:pPr>
            <a:r>
              <a:rPr sz="2400" spc="-130" dirty="0">
                <a:latin typeface="Roboto"/>
                <a:cs typeface="Roboto"/>
              </a:rPr>
              <a:t>If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Vehicle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became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interface,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120" dirty="0">
                <a:latin typeface="Roboto"/>
                <a:cs typeface="Roboto"/>
              </a:rPr>
              <a:t>it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could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not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directly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hold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ordinary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per-</a:t>
            </a:r>
            <a:r>
              <a:rPr sz="2400" spc="-204" dirty="0">
                <a:latin typeface="Roboto"/>
                <a:cs typeface="Roboto"/>
              </a:rPr>
              <a:t>object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instance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state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through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instance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fields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or </a:t>
            </a:r>
            <a:r>
              <a:rPr sz="2400" spc="-235" dirty="0">
                <a:latin typeface="Roboto"/>
                <a:cs typeface="Roboto"/>
              </a:rPr>
              <a:t>use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constructors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to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initialise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numbers.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class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can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implement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multiple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interfaces,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extend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0" dirty="0">
                <a:latin typeface="Roboto"/>
                <a:cs typeface="Roboto"/>
              </a:rPr>
              <a:t>only </a:t>
            </a:r>
            <a:r>
              <a:rPr sz="2400" spc="-245" dirty="0">
                <a:latin typeface="Roboto"/>
                <a:cs typeface="Roboto"/>
              </a:rPr>
              <a:t>one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class.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Making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Chargeable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abstract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class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would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prevent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already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extending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Car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from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also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65" dirty="0">
                <a:latin typeface="Roboto"/>
                <a:cs typeface="Roboto"/>
              </a:rPr>
              <a:t>extending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034" y="1098914"/>
            <a:ext cx="12803505" cy="114477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algn="just">
              <a:lnSpc>
                <a:spcPts val="2700"/>
              </a:lnSpc>
              <a:spcBef>
                <a:spcPts val="370"/>
              </a:spcBef>
            </a:pPr>
            <a:r>
              <a:rPr sz="2400" spc="-180" dirty="0">
                <a:latin typeface="Roboto"/>
                <a:cs typeface="Roboto"/>
              </a:rPr>
              <a:t>it.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Both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abstract-</a:t>
            </a:r>
            <a:r>
              <a:rPr sz="2400" spc="-215" dirty="0">
                <a:latin typeface="Roboto"/>
                <a:cs typeface="Roboto"/>
              </a:rPr>
              <a:t>class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interface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method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calls</a:t>
            </a:r>
            <a:r>
              <a:rPr sz="2400" spc="-21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are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generally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330" dirty="0">
                <a:latin typeface="Roboto"/>
                <a:cs typeface="Roboto"/>
              </a:rPr>
              <a:t>O(1</a:t>
            </a:r>
            <a:r>
              <a:rPr sz="2400" spc="-26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)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for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this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analysis;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per-</a:t>
            </a:r>
            <a:r>
              <a:rPr sz="2400" spc="-220" dirty="0">
                <a:latin typeface="Roboto"/>
                <a:cs typeface="Roboto"/>
              </a:rPr>
              <a:t>object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state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is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stored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in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the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implementing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object,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so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the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design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choice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does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not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fundamentally </a:t>
            </a:r>
            <a:r>
              <a:rPr sz="2400" spc="-240" dirty="0">
                <a:latin typeface="Roboto"/>
                <a:cs typeface="Roboto"/>
              </a:rPr>
              <a:t>change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storage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complexity.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55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05" dirty="0">
                <a:solidFill>
                  <a:srgbClr val="365E90"/>
                </a:solidFill>
                <a:latin typeface="Arial"/>
                <a:cs typeface="Arial"/>
              </a:rPr>
              <a:t>10</a:t>
            </a:r>
            <a:r>
              <a:rPr sz="3100" b="1" spc="-31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0" dirty="0">
                <a:solidFill>
                  <a:srgbClr val="365E90"/>
                </a:solidFill>
                <a:latin typeface="Arial"/>
                <a:cs typeface="Arial"/>
              </a:rPr>
              <a:t>Encapsulation</a:t>
            </a:r>
            <a:r>
              <a:rPr sz="3100" b="1" spc="-2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0" dirty="0">
                <a:solidFill>
                  <a:srgbClr val="365E90"/>
                </a:solidFill>
                <a:latin typeface="Arial"/>
                <a:cs typeface="Arial"/>
              </a:rPr>
              <a:t>through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Packages</a:t>
            </a:r>
            <a:r>
              <a:rPr sz="3100" b="1" spc="-26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and</a:t>
            </a:r>
            <a:r>
              <a:rPr sz="3100" b="1" spc="-1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0" dirty="0">
                <a:solidFill>
                  <a:srgbClr val="365E90"/>
                </a:solidFill>
                <a:latin typeface="Arial"/>
                <a:cs typeface="Arial"/>
              </a:rPr>
              <a:t>Access</a:t>
            </a:r>
            <a:r>
              <a:rPr sz="3100" b="1" spc="-36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50" dirty="0">
                <a:solidFill>
                  <a:srgbClr val="365E90"/>
                </a:solidFill>
                <a:latin typeface="Arial"/>
                <a:cs typeface="Arial"/>
              </a:rPr>
              <a:t>Modifiers</a:t>
            </a:r>
            <a:endParaRPr sz="3100">
              <a:latin typeface="Arial"/>
              <a:cs typeface="Arial"/>
            </a:endParaRPr>
          </a:p>
          <a:p>
            <a:pPr marL="12700" marR="20955" algn="just">
              <a:lnSpc>
                <a:spcPct val="92000"/>
              </a:lnSpc>
              <a:spcBef>
                <a:spcPts val="220"/>
              </a:spcBef>
            </a:pPr>
            <a:r>
              <a:rPr sz="2400" spc="-355" dirty="0">
                <a:latin typeface="Roboto"/>
                <a:cs typeface="Roboto"/>
              </a:rPr>
              <a:t>The</a:t>
            </a:r>
            <a:r>
              <a:rPr sz="2400" spc="204" dirty="0">
                <a:latin typeface="Roboto"/>
                <a:cs typeface="Roboto"/>
              </a:rPr>
              <a:t> </a:t>
            </a:r>
            <a:r>
              <a:rPr sz="2400" spc="-315" dirty="0">
                <a:latin typeface="Roboto"/>
                <a:cs typeface="Roboto"/>
              </a:rPr>
              <a:t>code</a:t>
            </a:r>
            <a:r>
              <a:rPr sz="2400" spc="165" dirty="0">
                <a:latin typeface="Roboto"/>
                <a:cs typeface="Roboto"/>
              </a:rPr>
              <a:t> </a:t>
            </a:r>
            <a:r>
              <a:rPr sz="2400" spc="-325" dirty="0">
                <a:latin typeface="Roboto"/>
                <a:cs typeface="Roboto"/>
              </a:rPr>
              <a:t>uses</a:t>
            </a:r>
            <a:r>
              <a:rPr sz="2400" spc="1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parking.model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for</a:t>
            </a:r>
            <a:r>
              <a:rPr sz="2400" spc="145" dirty="0">
                <a:latin typeface="Roboto"/>
                <a:cs typeface="Roboto"/>
              </a:rPr>
              <a:t> </a:t>
            </a:r>
            <a:r>
              <a:rPr sz="2400" spc="-285" dirty="0">
                <a:latin typeface="Roboto"/>
                <a:cs typeface="Roboto"/>
              </a:rPr>
              <a:t>domain</a:t>
            </a:r>
            <a:r>
              <a:rPr sz="2400" spc="1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classes,</a:t>
            </a:r>
            <a:r>
              <a:rPr sz="2400" spc="1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parking.service</a:t>
            </a:r>
            <a:r>
              <a:rPr sz="2400" spc="235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for</a:t>
            </a:r>
            <a:r>
              <a:rPr sz="2400" spc="1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operations</a:t>
            </a:r>
            <a:r>
              <a:rPr sz="2400" spc="170" dirty="0">
                <a:latin typeface="Roboto"/>
                <a:cs typeface="Roboto"/>
              </a:rPr>
              <a:t> </a:t>
            </a:r>
            <a:r>
              <a:rPr sz="2400" spc="-385" dirty="0">
                <a:latin typeface="Roboto"/>
                <a:cs typeface="Roboto"/>
              </a:rPr>
              <a:t>and</a:t>
            </a:r>
            <a:r>
              <a:rPr sz="2400" spc="2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parking.app</a:t>
            </a:r>
            <a:r>
              <a:rPr sz="2400" spc="160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for</a:t>
            </a:r>
            <a:r>
              <a:rPr sz="2400" spc="145" dirty="0">
                <a:latin typeface="Roboto"/>
                <a:cs typeface="Roboto"/>
              </a:rPr>
              <a:t> </a:t>
            </a:r>
            <a:r>
              <a:rPr sz="2400" spc="-330" dirty="0">
                <a:latin typeface="Roboto"/>
                <a:cs typeface="Roboto"/>
              </a:rPr>
              <a:t>the</a:t>
            </a:r>
            <a:r>
              <a:rPr sz="2400" spc="18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entry</a:t>
            </a:r>
            <a:r>
              <a:rPr sz="2400" spc="110" dirty="0">
                <a:latin typeface="Roboto"/>
                <a:cs typeface="Roboto"/>
              </a:rPr>
              <a:t> </a:t>
            </a:r>
            <a:r>
              <a:rPr sz="2400" spc="-95" dirty="0">
                <a:latin typeface="Roboto"/>
                <a:cs typeface="Roboto"/>
              </a:rPr>
              <a:t>point. </a:t>
            </a:r>
            <a:r>
              <a:rPr sz="2400" spc="-240" dirty="0">
                <a:latin typeface="Roboto"/>
                <a:cs typeface="Roboto"/>
              </a:rPr>
              <a:t>Fields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335" dirty="0">
                <a:latin typeface="Roboto"/>
                <a:cs typeface="Roboto"/>
              </a:rPr>
              <a:t>are</a:t>
            </a:r>
            <a:r>
              <a:rPr sz="2400" spc="18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private;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constructors</a:t>
            </a:r>
            <a:r>
              <a:rPr sz="2400" spc="95" dirty="0">
                <a:latin typeface="Roboto"/>
                <a:cs typeface="Roboto"/>
              </a:rPr>
              <a:t> </a:t>
            </a:r>
            <a:r>
              <a:rPr sz="2400" spc="-385" dirty="0">
                <a:latin typeface="Roboto"/>
                <a:cs typeface="Roboto"/>
              </a:rPr>
              <a:t>and</a:t>
            </a:r>
            <a:r>
              <a:rPr sz="2400" spc="2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public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90" dirty="0">
                <a:latin typeface="Roboto"/>
                <a:cs typeface="Roboto"/>
              </a:rPr>
              <a:t>methods</a:t>
            </a:r>
            <a:r>
              <a:rPr sz="2400" spc="140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form</a:t>
            </a:r>
            <a:r>
              <a:rPr sz="2400" spc="145" dirty="0">
                <a:latin typeface="Roboto"/>
                <a:cs typeface="Roboto"/>
              </a:rPr>
              <a:t> </a:t>
            </a:r>
            <a:r>
              <a:rPr sz="2400" spc="-330" dirty="0">
                <a:latin typeface="Roboto"/>
                <a:cs typeface="Roboto"/>
              </a:rPr>
              <a:t>the</a:t>
            </a:r>
            <a:r>
              <a:rPr sz="2400" spc="1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supported</a:t>
            </a:r>
            <a:r>
              <a:rPr sz="2400" spc="12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API;</a:t>
            </a:r>
            <a:r>
              <a:rPr sz="2400" spc="26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protected</a:t>
            </a:r>
            <a:r>
              <a:rPr sz="2400" spc="235" dirty="0">
                <a:latin typeface="Roboto"/>
                <a:cs typeface="Roboto"/>
              </a:rPr>
              <a:t> </a:t>
            </a:r>
            <a:r>
              <a:rPr sz="2400" spc="-290" dirty="0">
                <a:latin typeface="Roboto"/>
                <a:cs typeface="Roboto"/>
              </a:rPr>
              <a:t>methods</a:t>
            </a:r>
            <a:r>
              <a:rPr sz="2400" spc="17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allow</a:t>
            </a:r>
            <a:r>
              <a:rPr sz="2400" spc="114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subclasses</a:t>
            </a:r>
            <a:r>
              <a:rPr sz="2400" spc="170" dirty="0">
                <a:latin typeface="Roboto"/>
                <a:cs typeface="Roboto"/>
              </a:rPr>
              <a:t> </a:t>
            </a:r>
            <a:r>
              <a:rPr sz="2400" spc="-35" dirty="0">
                <a:latin typeface="Roboto"/>
                <a:cs typeface="Roboto"/>
              </a:rPr>
              <a:t>to </a:t>
            </a:r>
            <a:r>
              <a:rPr sz="2400" spc="-210" dirty="0">
                <a:latin typeface="Roboto"/>
                <a:cs typeface="Roboto"/>
              </a:rPr>
              <a:t>specialise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behaviour.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Getters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expose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necessary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read-only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values.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Constructors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methods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reject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blank</a:t>
            </a:r>
            <a:endParaRPr sz="2400">
              <a:latin typeface="Roboto"/>
              <a:cs typeface="Roboto"/>
            </a:endParaRPr>
          </a:p>
          <a:p>
            <a:pPr marL="12700" algn="just">
              <a:lnSpc>
                <a:spcPts val="2700"/>
              </a:lnSpc>
            </a:pP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numbers,</a:t>
            </a:r>
            <a:r>
              <a:rPr sz="2400" spc="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negative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durations/energy,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invalid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dates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invalid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65" dirty="0">
                <a:latin typeface="Roboto"/>
                <a:cs typeface="Roboto"/>
              </a:rPr>
              <a:t>indexes.</a:t>
            </a:r>
            <a:endParaRPr sz="2400">
              <a:latin typeface="Roboto"/>
              <a:cs typeface="Roboto"/>
            </a:endParaRPr>
          </a:p>
          <a:p>
            <a:pPr marL="12700" marR="40005">
              <a:lnSpc>
                <a:spcPct val="92500"/>
              </a:lnSpc>
              <a:spcBef>
                <a:spcPts val="1930"/>
              </a:spcBef>
            </a:pPr>
            <a:r>
              <a:rPr sz="2400" spc="-235" dirty="0">
                <a:latin typeface="Roboto"/>
                <a:cs typeface="Roboto"/>
              </a:rPr>
              <a:t>Wrapper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classes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such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as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I</a:t>
            </a:r>
            <a:r>
              <a:rPr sz="2400" spc="-3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nteger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useful</a:t>
            </a:r>
            <a:r>
              <a:rPr sz="2400" spc="10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generic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collections.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Autoboxing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converts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between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primitives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and </a:t>
            </a:r>
            <a:r>
              <a:rPr sz="2400" spc="-250" dirty="0">
                <a:latin typeface="Roboto"/>
                <a:cs typeface="Roboto"/>
              </a:rPr>
              <a:t>wrappers.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Do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not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compare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Integer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objects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with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300" dirty="0">
                <a:latin typeface="Roboto"/>
                <a:cs typeface="Roboto"/>
              </a:rPr>
              <a:t>==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comparing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numeric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values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outside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guaranteed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cached </a:t>
            </a:r>
            <a:r>
              <a:rPr sz="2400" spc="-225" dirty="0">
                <a:latin typeface="Roboto"/>
                <a:cs typeface="Roboto"/>
              </a:rPr>
              <a:t>ranges;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use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equals()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or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unbox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int.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130" dirty="0">
                <a:latin typeface="Roboto"/>
                <a:cs typeface="Roboto"/>
              </a:rPr>
              <a:t>If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fields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were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public,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callers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could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bypass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validation.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Validation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itself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330" dirty="0">
                <a:latin typeface="Roboto"/>
                <a:cs typeface="Roboto"/>
              </a:rPr>
              <a:t>O(1</a:t>
            </a:r>
            <a:r>
              <a:rPr sz="2400" spc="-25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per </a:t>
            </a:r>
            <a:r>
              <a:rPr sz="2400" spc="-215" dirty="0">
                <a:latin typeface="Roboto"/>
                <a:cs typeface="Roboto"/>
              </a:rPr>
              <a:t>update,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duplicating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checks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across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340" dirty="0">
                <a:latin typeface="Roboto"/>
                <a:cs typeface="Roboto"/>
              </a:rPr>
              <a:t>m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call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sites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creates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O(m)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maintenance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points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increases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risk </a:t>
            </a:r>
            <a:r>
              <a:rPr sz="2400" spc="-25" dirty="0">
                <a:latin typeface="Roboto"/>
                <a:cs typeface="Roboto"/>
              </a:rPr>
              <a:t>of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ts val="2700"/>
              </a:lnSpc>
            </a:pPr>
            <a:r>
              <a:rPr sz="2400" spc="-220" dirty="0">
                <a:latin typeface="Roboto"/>
                <a:cs typeface="Roboto"/>
              </a:rPr>
              <a:t>inconsistent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50" dirty="0">
                <a:latin typeface="Roboto"/>
                <a:cs typeface="Roboto"/>
              </a:rPr>
              <a:t>rules.</a:t>
            </a:r>
            <a:endParaRPr sz="2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15" dirty="0">
                <a:solidFill>
                  <a:srgbClr val="365E90"/>
                </a:solidFill>
                <a:latin typeface="Arial"/>
                <a:cs typeface="Arial"/>
              </a:rPr>
              <a:t>11</a:t>
            </a:r>
            <a:r>
              <a:rPr sz="3100" b="1" spc="1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54" dirty="0">
                <a:solidFill>
                  <a:srgbClr val="365E90"/>
                </a:solidFill>
                <a:latin typeface="Arial"/>
                <a:cs typeface="Arial"/>
              </a:rPr>
              <a:t>Implement,</a:t>
            </a:r>
            <a:r>
              <a:rPr sz="3100" b="1" spc="-3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10" dirty="0">
                <a:solidFill>
                  <a:srgbClr val="365E90"/>
                </a:solidFill>
                <a:latin typeface="Arial"/>
                <a:cs typeface="Arial"/>
              </a:rPr>
              <a:t>Test</a:t>
            </a:r>
            <a:r>
              <a:rPr sz="3100" b="1" spc="-36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and</a:t>
            </a:r>
            <a:r>
              <a:rPr sz="3100" b="1" spc="-1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85" dirty="0">
                <a:solidFill>
                  <a:srgbClr val="365E90"/>
                </a:solidFill>
                <a:latin typeface="Arial"/>
                <a:cs typeface="Arial"/>
              </a:rPr>
              <a:t>Defend</a:t>
            </a:r>
            <a:r>
              <a:rPr sz="3100" b="1" spc="-14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25" dirty="0">
                <a:solidFill>
                  <a:srgbClr val="365E90"/>
                </a:solidFill>
                <a:latin typeface="Arial"/>
                <a:cs typeface="Arial"/>
              </a:rPr>
              <a:t>the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15" dirty="0">
                <a:solidFill>
                  <a:srgbClr val="365E90"/>
                </a:solidFill>
                <a:latin typeface="Arial"/>
                <a:cs typeface="Arial"/>
              </a:rPr>
              <a:t>Design</a:t>
            </a:r>
            <a:endParaRPr sz="3100">
              <a:latin typeface="Arial"/>
              <a:cs typeface="Arial"/>
            </a:endParaRPr>
          </a:p>
          <a:p>
            <a:pPr marL="12700" marR="262890">
              <a:lnSpc>
                <a:spcPct val="92500"/>
              </a:lnSpc>
              <a:spcBef>
                <a:spcPts val="204"/>
              </a:spcBef>
            </a:pP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integrated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implementation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src/.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155" dirty="0">
                <a:latin typeface="Roboto"/>
                <a:cs typeface="Roboto"/>
              </a:rPr>
              <a:t>It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includes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jagged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slot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arrays,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90" dirty="0">
                <a:latin typeface="Roboto"/>
                <a:cs typeface="Roboto"/>
              </a:rPr>
              <a:t>map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of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active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tickets,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unique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ticket </a:t>
            </a:r>
            <a:r>
              <a:rPr sz="2400" spc="-229" dirty="0">
                <a:latin typeface="Roboto"/>
                <a:cs typeface="Roboto"/>
              </a:rPr>
              <a:t>numbering,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subclasses,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charging,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passes,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exit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calculation.</a:t>
            </a:r>
            <a:r>
              <a:rPr sz="2400" spc="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Test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scenarios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should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include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normal </a:t>
            </a:r>
            <a:r>
              <a:rPr sz="2400" spc="-204" dirty="0">
                <a:latin typeface="Roboto"/>
                <a:cs typeface="Roboto"/>
              </a:rPr>
              <a:t>entry/exit,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full</a:t>
            </a:r>
            <a:r>
              <a:rPr sz="2400" spc="114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capacity,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zero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minutes,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exact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60-</a:t>
            </a:r>
            <a:r>
              <a:rPr sz="2400" spc="-235" dirty="0">
                <a:latin typeface="Roboto"/>
                <a:cs typeface="Roboto"/>
              </a:rPr>
              <a:t>minute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boundaries,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duplicate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registrations,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invalid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slots,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invalid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40" dirty="0">
                <a:latin typeface="Roboto"/>
                <a:cs typeface="Roboto"/>
              </a:rPr>
              <a:t>exit </a:t>
            </a:r>
            <a:r>
              <a:rPr sz="2400" spc="-229" dirty="0">
                <a:latin typeface="Roboto"/>
                <a:cs typeface="Roboto"/>
              </a:rPr>
              <a:t>times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valid/expired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85" dirty="0">
                <a:latin typeface="Roboto"/>
                <a:cs typeface="Roboto"/>
              </a:rPr>
              <a:t>passes.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400" spc="-180" dirty="0">
                <a:latin typeface="Roboto"/>
                <a:cs typeface="Roboto"/>
              </a:rPr>
              <a:t>Initial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execution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checks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performed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in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build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30" dirty="0">
                <a:latin typeface="Roboto"/>
                <a:cs typeface="Roboto"/>
              </a:rPr>
              <a:t>environment: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740"/>
              </a:lnSpc>
              <a:spcBef>
                <a:spcPts val="1814"/>
              </a:spcBef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40" dirty="0">
                <a:latin typeface="Roboto"/>
                <a:cs typeface="Roboto"/>
              </a:rPr>
              <a:t>Task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3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allocation/release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exercise: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PASS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—</a:t>
            </a:r>
            <a:r>
              <a:rPr sz="2000" spc="6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output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matched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all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six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expected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lines.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65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40" dirty="0">
                <a:latin typeface="Roboto"/>
                <a:cs typeface="Roboto"/>
              </a:rPr>
              <a:t>Task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8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fee/polymorphism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exercise:</a:t>
            </a:r>
            <a:r>
              <a:rPr sz="2400" spc="7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PASS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—</a:t>
            </a:r>
            <a:r>
              <a:rPr sz="20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output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matched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all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four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expected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lines.</a:t>
            </a:r>
            <a:endParaRPr sz="2400">
              <a:latin typeface="Roboto"/>
              <a:cs typeface="Roboto"/>
            </a:endParaRPr>
          </a:p>
          <a:p>
            <a:pPr marL="469265" indent="-456565">
              <a:lnSpc>
                <a:spcPts val="2700"/>
              </a:lnSpc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20" dirty="0">
                <a:latin typeface="Roboto"/>
                <a:cs typeface="Roboto"/>
              </a:rPr>
              <a:t>Integrated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project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compilation: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PASS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—</a:t>
            </a:r>
            <a:r>
              <a:rPr sz="2000" spc="-5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all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source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files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100" dirty="0">
                <a:latin typeface="Roboto"/>
                <a:cs typeface="Roboto"/>
              </a:rPr>
              <a:t>compiled.</a:t>
            </a:r>
            <a:endParaRPr sz="2400">
              <a:latin typeface="Roboto"/>
              <a:cs typeface="Roboto"/>
            </a:endParaRPr>
          </a:p>
          <a:p>
            <a:pPr marL="469265" marR="915669" indent="-457200">
              <a:lnSpc>
                <a:spcPts val="2600"/>
              </a:lnSpc>
              <a:spcBef>
                <a:spcPts val="229"/>
              </a:spcBef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20" dirty="0">
                <a:latin typeface="Roboto"/>
                <a:cs typeface="Roboto"/>
              </a:rPr>
              <a:t>Integrated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demonstration: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PASS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—</a:t>
            </a:r>
            <a:r>
              <a:rPr sz="2000" spc="6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tickets,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slots,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30-minute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fees,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EV</a:t>
            </a:r>
            <a:r>
              <a:rPr sz="2400" spc="-2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charging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monthly-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30" dirty="0">
                <a:latin typeface="Roboto"/>
                <a:cs typeface="Roboto"/>
              </a:rPr>
              <a:t>waiver </a:t>
            </a:r>
            <a:r>
              <a:rPr sz="2400" spc="-235" dirty="0">
                <a:latin typeface="Roboto"/>
                <a:cs typeface="Roboto"/>
              </a:rPr>
              <a:t>produced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expected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demonstration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70" dirty="0">
                <a:latin typeface="Roboto"/>
                <a:cs typeface="Roboto"/>
              </a:rPr>
              <a:t>values.</a:t>
            </a:r>
            <a:endParaRPr sz="2400">
              <a:latin typeface="Roboto"/>
              <a:cs typeface="Roboto"/>
            </a:endParaRPr>
          </a:p>
          <a:p>
            <a:pPr marL="469265" marR="210820" indent="-457200">
              <a:lnSpc>
                <a:spcPts val="2700"/>
              </a:lnSpc>
              <a:spcBef>
                <a:spcPts val="15"/>
              </a:spcBef>
              <a:buSzPct val="83333"/>
              <a:buFont typeface="Webdings"/>
              <a:buChar char="•"/>
              <a:tabLst>
                <a:tab pos="469265" algn="l"/>
              </a:tabLst>
            </a:pPr>
            <a:r>
              <a:rPr sz="2400" spc="-204" dirty="0">
                <a:latin typeface="Roboto"/>
                <a:cs typeface="Roboto"/>
              </a:rPr>
              <a:t>SelfTest.java: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PASS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000" dirty="0">
                <a:latin typeface="Roboto"/>
                <a:cs typeface="Roboto"/>
              </a:rPr>
              <a:t>—</a:t>
            </a:r>
            <a:r>
              <a:rPr sz="2000" spc="-5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9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of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9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checks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passed,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including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e-</a:t>
            </a:r>
            <a:r>
              <a:rPr sz="2400" spc="-200" dirty="0">
                <a:latin typeface="Roboto"/>
                <a:cs typeface="Roboto"/>
              </a:rPr>
              <a:t>bike,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delivery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van,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one-</a:t>
            </a:r>
            <a:r>
              <a:rPr sz="2400" spc="-210" dirty="0">
                <a:latin typeface="Roboto"/>
                <a:cs typeface="Roboto"/>
              </a:rPr>
              <a:t>day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pass,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duplicate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50" dirty="0">
                <a:latin typeface="Roboto"/>
                <a:cs typeface="Roboto"/>
              </a:rPr>
              <a:t>registration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invalid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0" dirty="0">
                <a:latin typeface="Roboto"/>
                <a:cs typeface="Roboto"/>
              </a:rPr>
              <a:t>slot.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sz="2800" b="1" spc="-220" dirty="0">
                <a:solidFill>
                  <a:srgbClr val="4E81BD"/>
                </a:solidFill>
                <a:latin typeface="Arial"/>
                <a:cs typeface="Arial"/>
              </a:rPr>
              <a:t>Sample</a:t>
            </a:r>
            <a:r>
              <a:rPr sz="2800" b="1" spc="-204" dirty="0">
                <a:solidFill>
                  <a:srgbClr val="4E81BD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4E81BD"/>
                </a:solidFill>
                <a:latin typeface="Arial"/>
                <a:cs typeface="Arial"/>
              </a:rPr>
              <a:t>Test</a:t>
            </a:r>
            <a:r>
              <a:rPr sz="2800" b="1" spc="-260" dirty="0">
                <a:solidFill>
                  <a:srgbClr val="4E81BD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4E81BD"/>
                </a:solidFill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18430" y="12589628"/>
          <a:ext cx="12793980" cy="5442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4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4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35" dirty="0">
                          <a:latin typeface="Roboto"/>
                          <a:cs typeface="Roboto"/>
                        </a:rPr>
                        <a:t>Test</a:t>
                      </a:r>
                      <a:r>
                        <a:rPr sz="2400" spc="-114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case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40" dirty="0">
                          <a:latin typeface="Roboto"/>
                          <a:cs typeface="Roboto"/>
                        </a:rPr>
                        <a:t>Expected</a:t>
                      </a:r>
                      <a:r>
                        <a:rPr sz="2400" spc="-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5" dirty="0">
                          <a:latin typeface="Roboto"/>
                          <a:cs typeface="Roboto"/>
                        </a:rPr>
                        <a:t>result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45" dirty="0">
                          <a:latin typeface="Roboto"/>
                          <a:cs typeface="Roboto"/>
                        </a:rPr>
                        <a:t>Actual</a:t>
                      </a:r>
                      <a:r>
                        <a:rPr sz="2400" spc="9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40" dirty="0">
                          <a:latin typeface="Roboto"/>
                          <a:cs typeface="Roboto"/>
                        </a:rPr>
                        <a:t>result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15" dirty="0">
                          <a:latin typeface="Roboto"/>
                          <a:cs typeface="Roboto"/>
                        </a:rPr>
                        <a:t>Car,</a:t>
                      </a:r>
                      <a:r>
                        <a:rPr sz="2400" spc="-1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95" dirty="0">
                          <a:latin typeface="Roboto"/>
                          <a:cs typeface="Roboto"/>
                        </a:rPr>
                        <a:t>1</a:t>
                      </a:r>
                      <a:r>
                        <a:rPr sz="2400" spc="-16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30</a:t>
                      </a:r>
                      <a:r>
                        <a:rPr sz="2400" spc="-9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100" dirty="0">
                          <a:latin typeface="Roboto"/>
                          <a:cs typeface="Roboto"/>
                        </a:rPr>
                        <a:t>minutes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1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85" dirty="0">
                          <a:latin typeface="Roboto"/>
                          <a:cs typeface="Roboto"/>
                        </a:rPr>
                        <a:t>90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5" dirty="0">
                          <a:latin typeface="Roboto"/>
                          <a:cs typeface="Roboto"/>
                        </a:rPr>
                        <a:t>90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29" dirty="0">
                          <a:latin typeface="Roboto"/>
                          <a:cs typeface="Roboto"/>
                        </a:rPr>
                        <a:t>E-</a:t>
                      </a:r>
                      <a:r>
                        <a:rPr sz="2400" spc="-180" dirty="0">
                          <a:latin typeface="Roboto"/>
                          <a:cs typeface="Roboto"/>
                        </a:rPr>
                        <a:t>bike,</a:t>
                      </a:r>
                      <a:r>
                        <a:rPr sz="2400" spc="-1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30</a:t>
                      </a:r>
                      <a:r>
                        <a:rPr sz="2400" spc="-9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85" dirty="0">
                          <a:latin typeface="Roboto"/>
                          <a:cs typeface="Roboto"/>
                        </a:rPr>
                        <a:t>minutes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04" dirty="0">
                          <a:latin typeface="Roboto"/>
                          <a:cs typeface="Roboto"/>
                        </a:rPr>
                        <a:t>Flat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19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20" dirty="0">
                          <a:latin typeface="Roboto"/>
                          <a:cs typeface="Roboto"/>
                        </a:rPr>
                        <a:t>20</a:t>
                      </a:r>
                      <a:r>
                        <a:rPr sz="2400" spc="-8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150" dirty="0">
                          <a:latin typeface="Roboto"/>
                          <a:cs typeface="Roboto"/>
                        </a:rPr>
                        <a:t>(assumption)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5" dirty="0">
                          <a:latin typeface="Roboto"/>
                          <a:cs typeface="Roboto"/>
                        </a:rPr>
                        <a:t>20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20" dirty="0">
                          <a:latin typeface="Roboto"/>
                          <a:cs typeface="Roboto"/>
                        </a:rPr>
                        <a:t>EV,</a:t>
                      </a:r>
                      <a:r>
                        <a:rPr sz="2400" spc="-1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95" dirty="0">
                          <a:latin typeface="Roboto"/>
                          <a:cs typeface="Roboto"/>
                        </a:rPr>
                        <a:t>1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 30</a:t>
                      </a:r>
                      <a:r>
                        <a:rPr sz="2400" spc="-9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25" dirty="0">
                          <a:latin typeface="Roboto"/>
                          <a:cs typeface="Roboto"/>
                        </a:rPr>
                        <a:t>minutes</a:t>
                      </a:r>
                      <a:r>
                        <a:rPr sz="2400" spc="-1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20" dirty="0">
                          <a:latin typeface="Roboto"/>
                          <a:cs typeface="Roboto"/>
                        </a:rPr>
                        <a:t>+</a:t>
                      </a:r>
                      <a:r>
                        <a:rPr sz="2400" spc="-14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95" dirty="0">
                          <a:latin typeface="Roboto"/>
                          <a:cs typeface="Roboto"/>
                        </a:rPr>
                        <a:t>1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 0</a:t>
                      </a:r>
                      <a:r>
                        <a:rPr sz="2400" spc="-9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40" dirty="0">
                          <a:latin typeface="Roboto"/>
                          <a:cs typeface="Roboto"/>
                        </a:rPr>
                        <a:t>kWh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114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430" dirty="0">
                          <a:latin typeface="Roboto"/>
                          <a:cs typeface="Roboto"/>
                        </a:rPr>
                        <a:t>21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10" dirty="0">
                          <a:latin typeface="Roboto"/>
                          <a:cs typeface="Roboto"/>
                        </a:rPr>
                        <a:t>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80" dirty="0">
                          <a:latin typeface="Roboto"/>
                          <a:cs typeface="Roboto"/>
                        </a:rPr>
                        <a:t>21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10" dirty="0">
                          <a:latin typeface="Roboto"/>
                          <a:cs typeface="Roboto"/>
                        </a:rPr>
                        <a:t>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04" dirty="0">
                          <a:latin typeface="Roboto"/>
                          <a:cs typeface="Roboto"/>
                        </a:rPr>
                        <a:t>Delivery</a:t>
                      </a:r>
                      <a:r>
                        <a:rPr sz="2400" spc="-18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25" dirty="0">
                          <a:latin typeface="Roboto"/>
                          <a:cs typeface="Roboto"/>
                        </a:rPr>
                        <a:t>van,</a:t>
                      </a:r>
                      <a:r>
                        <a:rPr sz="2400" spc="1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95" dirty="0">
                          <a:latin typeface="Roboto"/>
                          <a:cs typeface="Roboto"/>
                        </a:rPr>
                        <a:t>1</a:t>
                      </a:r>
                      <a:r>
                        <a:rPr sz="2400" spc="-24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185" dirty="0">
                          <a:latin typeface="Roboto"/>
                          <a:cs typeface="Roboto"/>
                        </a:rPr>
                        <a:t>0:00</a:t>
                      </a:r>
                      <a:r>
                        <a:rPr sz="2000" spc="-185" dirty="0">
                          <a:latin typeface="Roboto"/>
                          <a:cs typeface="Roboto"/>
                        </a:rPr>
                        <a:t>–</a:t>
                      </a:r>
                      <a:r>
                        <a:rPr sz="2400" spc="-595" dirty="0">
                          <a:latin typeface="Roboto"/>
                          <a:cs typeface="Roboto"/>
                        </a:rPr>
                        <a:t>1</a:t>
                      </a:r>
                      <a:r>
                        <a:rPr sz="2400" spc="-24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595" dirty="0">
                          <a:latin typeface="Roboto"/>
                          <a:cs typeface="Roboto"/>
                        </a:rPr>
                        <a:t>1</a:t>
                      </a:r>
                      <a:r>
                        <a:rPr sz="2400" spc="-13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5" dirty="0">
                          <a:latin typeface="Roboto"/>
                          <a:cs typeface="Roboto"/>
                        </a:rPr>
                        <a:t>:00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114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60</a:t>
                      </a:r>
                      <a:r>
                        <a:rPr sz="2400" spc="-9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150" dirty="0">
                          <a:latin typeface="Roboto"/>
                          <a:cs typeface="Roboto"/>
                        </a:rPr>
                        <a:t>(assumption)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Rs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35" dirty="0">
                          <a:latin typeface="Roboto"/>
                          <a:cs typeface="Roboto"/>
                        </a:rPr>
                        <a:t>60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10" dirty="0">
                          <a:latin typeface="Roboto"/>
                          <a:cs typeface="Roboto"/>
                        </a:rPr>
                        <a:t>Duplicate</a:t>
                      </a:r>
                      <a:r>
                        <a:rPr sz="2400" spc="-1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0" dirty="0">
                          <a:latin typeface="Roboto"/>
                          <a:cs typeface="Roboto"/>
                        </a:rPr>
                        <a:t>active</a:t>
                      </a:r>
                      <a:r>
                        <a:rPr sz="2400" spc="-1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110" dirty="0">
                          <a:latin typeface="Roboto"/>
                          <a:cs typeface="Roboto"/>
                        </a:rPr>
                        <a:t>registration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15" dirty="0">
                          <a:latin typeface="Roboto"/>
                          <a:cs typeface="Roboto"/>
                        </a:rPr>
                        <a:t>Reject</a:t>
                      </a:r>
                      <a:r>
                        <a:rPr sz="2400" spc="-1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entry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105" dirty="0">
                          <a:latin typeface="Roboto"/>
                          <a:cs typeface="Roboto"/>
                        </a:rPr>
                        <a:t>rejected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45" dirty="0">
                          <a:latin typeface="Roboto"/>
                          <a:cs typeface="Roboto"/>
                        </a:rPr>
                        <a:t>One-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day</a:t>
                      </a:r>
                      <a:r>
                        <a:rPr sz="2400" spc="-18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50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7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5" dirty="0">
                          <a:latin typeface="Roboto"/>
                          <a:cs typeface="Roboto"/>
                        </a:rPr>
                        <a:t>on</a:t>
                      </a:r>
                      <a:r>
                        <a:rPr sz="2400" spc="-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50" dirty="0">
                          <a:latin typeface="Roboto"/>
                          <a:cs typeface="Roboto"/>
                        </a:rPr>
                        <a:t>matching</a:t>
                      </a:r>
                      <a:r>
                        <a:rPr sz="2400" spc="-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date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10" dirty="0">
                          <a:latin typeface="Roboto"/>
                          <a:cs typeface="Roboto"/>
                        </a:rPr>
                        <a:t>Valid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valid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45" dirty="0">
                          <a:latin typeface="Roboto"/>
                          <a:cs typeface="Roboto"/>
                        </a:rPr>
                        <a:t>One-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day</a:t>
                      </a:r>
                      <a:r>
                        <a:rPr sz="2400" spc="-19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50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9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5" dirty="0">
                          <a:latin typeface="Roboto"/>
                          <a:cs typeface="Roboto"/>
                        </a:rPr>
                        <a:t>on</a:t>
                      </a:r>
                      <a:r>
                        <a:rPr sz="2400" spc="-1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45" dirty="0">
                          <a:latin typeface="Roboto"/>
                          <a:cs typeface="Roboto"/>
                        </a:rPr>
                        <a:t>next</a:t>
                      </a:r>
                      <a:r>
                        <a:rPr sz="2400" spc="-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date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60" dirty="0">
                          <a:latin typeface="Roboto"/>
                          <a:cs typeface="Roboto"/>
                        </a:rPr>
                        <a:t>Invalid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60" dirty="0">
                          <a:latin typeface="Roboto"/>
                          <a:cs typeface="Roboto"/>
                        </a:rPr>
                        <a:t>invalid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40" dirty="0">
                          <a:latin typeface="Roboto"/>
                          <a:cs typeface="Roboto"/>
                        </a:rPr>
                        <a:t>Release</a:t>
                      </a:r>
                      <a:r>
                        <a:rPr sz="2400" spc="-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4" dirty="0">
                          <a:latin typeface="Roboto"/>
                          <a:cs typeface="Roboto"/>
                        </a:rPr>
                        <a:t>invalid</a:t>
                      </a:r>
                      <a:r>
                        <a:rPr sz="2400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slot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40" dirty="0">
                          <a:latin typeface="Roboto"/>
                          <a:cs typeface="Roboto"/>
                        </a:rPr>
                        <a:t>Return</a:t>
                      </a:r>
                      <a:r>
                        <a:rPr sz="240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false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3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0" dirty="0">
                          <a:latin typeface="Roboto"/>
                          <a:cs typeface="Roboto"/>
                        </a:rPr>
                        <a:t>false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218430" y="1179331"/>
          <a:ext cx="12793980" cy="939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4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4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9165">
                <a:tc>
                  <a:txBody>
                    <a:bodyPr/>
                    <a:lstStyle/>
                    <a:p>
                      <a:pPr marL="145415">
                        <a:lnSpc>
                          <a:spcPts val="2340"/>
                        </a:lnSpc>
                      </a:pPr>
                      <a:r>
                        <a:rPr sz="2400" spc="-240" dirty="0">
                          <a:latin typeface="Roboto"/>
                          <a:cs typeface="Roboto"/>
                        </a:rPr>
                        <a:t>Task</a:t>
                      </a:r>
                      <a:r>
                        <a:rPr sz="2400" spc="-18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3</a:t>
                      </a:r>
                      <a:r>
                        <a:rPr sz="2400" spc="-6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50" dirty="0">
                          <a:latin typeface="Roboto"/>
                          <a:cs typeface="Roboto"/>
                        </a:rPr>
                        <a:t>and</a:t>
                      </a:r>
                      <a:r>
                        <a:rPr sz="2400" spc="-5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40" dirty="0">
                          <a:latin typeface="Roboto"/>
                          <a:cs typeface="Roboto"/>
                        </a:rPr>
                        <a:t>Task</a:t>
                      </a:r>
                      <a:r>
                        <a:rPr sz="2400" spc="-18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60" dirty="0">
                          <a:latin typeface="Roboto"/>
                          <a:cs typeface="Roboto"/>
                        </a:rPr>
                        <a:t>8</a:t>
                      </a:r>
                      <a:r>
                        <a:rPr sz="2400" spc="-8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90" dirty="0">
                          <a:latin typeface="Roboto"/>
                          <a:cs typeface="Roboto"/>
                        </a:rPr>
                        <a:t>supplied</a:t>
                      </a:r>
                      <a:endParaRPr sz="2400">
                        <a:latin typeface="Roboto"/>
                        <a:cs typeface="Roboto"/>
                      </a:endParaRPr>
                    </a:p>
                    <a:p>
                      <a:pPr marL="145415">
                        <a:lnSpc>
                          <a:spcPts val="2790"/>
                        </a:lnSpc>
                      </a:pPr>
                      <a:r>
                        <a:rPr sz="2400" spc="-120" dirty="0">
                          <a:latin typeface="Roboto"/>
                          <a:cs typeface="Roboto"/>
                        </a:rPr>
                        <a:t>exercises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0" dirty="0">
                          <a:latin typeface="Roboto"/>
                          <a:cs typeface="Roboto"/>
                        </a:rPr>
                        <a:t>Match</a:t>
                      </a:r>
                      <a:r>
                        <a:rPr sz="2400" spc="-114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40" dirty="0">
                          <a:latin typeface="Roboto"/>
                          <a:cs typeface="Roboto"/>
                        </a:rPr>
                        <a:t>expected</a:t>
                      </a:r>
                      <a:r>
                        <a:rPr sz="2400" spc="-30" dirty="0">
                          <a:latin typeface="Roboto"/>
                          <a:cs typeface="Roboto"/>
                        </a:rPr>
                        <a:t> output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2430"/>
                        </a:lnSpc>
                      </a:pPr>
                      <a:r>
                        <a:rPr sz="2400" spc="-265" dirty="0">
                          <a:latin typeface="Roboto"/>
                          <a:cs typeface="Roboto"/>
                        </a:rPr>
                        <a:t>PASS</a:t>
                      </a:r>
                      <a:r>
                        <a:rPr sz="2400" spc="-21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000" dirty="0">
                          <a:latin typeface="Roboto"/>
                          <a:cs typeface="Roboto"/>
                        </a:rPr>
                        <a:t>—</a:t>
                      </a:r>
                      <a:r>
                        <a:rPr sz="2000" spc="3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29" dirty="0">
                          <a:latin typeface="Roboto"/>
                          <a:cs typeface="Roboto"/>
                        </a:rPr>
                        <a:t>outputs</a:t>
                      </a:r>
                      <a:r>
                        <a:rPr sz="2400" spc="-10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2400" spc="-270" dirty="0">
                          <a:latin typeface="Roboto"/>
                          <a:cs typeface="Roboto"/>
                        </a:rPr>
                        <a:t>matched</a:t>
                      </a:r>
                      <a:endParaRPr sz="24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8034" y="2050608"/>
            <a:ext cx="12778105" cy="15570032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8419">
              <a:lnSpc>
                <a:spcPts val="2700"/>
              </a:lnSpc>
              <a:spcBef>
                <a:spcPts val="370"/>
              </a:spcBef>
            </a:pPr>
            <a:r>
              <a:rPr sz="2400" spc="-245" dirty="0">
                <a:latin typeface="Roboto"/>
                <a:cs typeface="Roboto"/>
              </a:rPr>
              <a:t>Example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hand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calculation: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car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parks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30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minutes,</a:t>
            </a:r>
            <a:r>
              <a:rPr sz="2400" spc="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which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3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started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hours.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Rs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30/hour,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Rs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90.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305" dirty="0">
                <a:latin typeface="Roboto"/>
                <a:cs typeface="Roboto"/>
              </a:rPr>
              <a:t>An </a:t>
            </a:r>
            <a:r>
              <a:rPr sz="2400" spc="-185" dirty="0">
                <a:latin typeface="Roboto"/>
                <a:cs typeface="Roboto"/>
              </a:rPr>
              <a:t>electric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using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25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0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315" dirty="0">
                <a:latin typeface="Roboto"/>
                <a:cs typeface="Roboto"/>
              </a:rPr>
              <a:t>kWh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adds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Rs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595" dirty="0">
                <a:latin typeface="Roboto"/>
                <a:cs typeface="Roboto"/>
              </a:rPr>
              <a:t>1</a:t>
            </a:r>
            <a:r>
              <a:rPr sz="2400" spc="-25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20,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so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its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total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Rs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430" dirty="0">
                <a:latin typeface="Roboto"/>
                <a:cs typeface="Roboto"/>
              </a:rPr>
              <a:t>21</a:t>
            </a:r>
            <a:r>
              <a:rPr sz="2400" spc="-254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0.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valid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waives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fee</a:t>
            </a:r>
            <a:r>
              <a:rPr sz="2400" spc="-5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under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current </a:t>
            </a:r>
            <a:r>
              <a:rPr sz="2400" spc="-245" dirty="0">
                <a:latin typeface="Roboto"/>
                <a:cs typeface="Roboto"/>
              </a:rPr>
              <a:t>sample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rule.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Before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submission,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rerun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tests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on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student</a:t>
            </a:r>
            <a:r>
              <a:rPr sz="2000" spc="-200" dirty="0">
                <a:latin typeface="Roboto"/>
                <a:cs typeface="Roboto"/>
              </a:rPr>
              <a:t>’</a:t>
            </a:r>
            <a:r>
              <a:rPr sz="2400" spc="-200" dirty="0">
                <a:latin typeface="Roboto"/>
                <a:cs typeface="Roboto"/>
              </a:rPr>
              <a:t>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Windows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computer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add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actual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10" dirty="0">
                <a:latin typeface="Roboto"/>
                <a:cs typeface="Roboto"/>
              </a:rPr>
              <a:t>screenshots;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ts val="2535"/>
              </a:lnSpc>
            </a:pPr>
            <a:r>
              <a:rPr sz="2400" spc="-240" dirty="0">
                <a:latin typeface="Roboto"/>
                <a:cs typeface="Roboto"/>
              </a:rPr>
              <a:t>environment</a:t>
            </a:r>
            <a:r>
              <a:rPr sz="2400" spc="1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output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screenshots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not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pre-</a:t>
            </a:r>
            <a:r>
              <a:rPr sz="2400" spc="-80" dirty="0">
                <a:latin typeface="Roboto"/>
                <a:cs typeface="Roboto"/>
              </a:rPr>
              <a:t>created.</a:t>
            </a:r>
            <a:endParaRPr sz="2400" dirty="0">
              <a:latin typeface="Roboto"/>
              <a:cs typeface="Roboto"/>
            </a:endParaRPr>
          </a:p>
          <a:p>
            <a:pPr marL="12700" marR="83820">
              <a:lnSpc>
                <a:spcPct val="92000"/>
              </a:lnSpc>
              <a:spcBef>
                <a:spcPts val="2050"/>
              </a:spcBef>
            </a:pPr>
            <a:r>
              <a:rPr sz="2400" spc="-204" dirty="0">
                <a:latin typeface="Roboto"/>
                <a:cs typeface="Roboto"/>
              </a:rPr>
              <a:t>Alternative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storage: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array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search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ticket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O(n);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ArrayList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lookup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by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registration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is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O(n);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HashMap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lookup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is </a:t>
            </a:r>
            <a:r>
              <a:rPr sz="2400" spc="-365" dirty="0">
                <a:latin typeface="Roboto"/>
                <a:cs typeface="Roboto"/>
              </a:rPr>
              <a:t>O(1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)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average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O(n)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worst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case.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All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three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require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O(n)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space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n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active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tickets,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with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HashMap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using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45" dirty="0">
                <a:latin typeface="Roboto"/>
                <a:cs typeface="Roboto"/>
              </a:rPr>
              <a:t>additional </a:t>
            </a:r>
            <a:r>
              <a:rPr sz="2400" spc="-229" dirty="0">
                <a:latin typeface="Roboto"/>
                <a:cs typeface="Roboto"/>
              </a:rPr>
              <a:t>bucket/node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overhead.</a:t>
            </a:r>
            <a:r>
              <a:rPr sz="2400" spc="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The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sample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uses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HashMap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exit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55" dirty="0">
                <a:latin typeface="Roboto"/>
                <a:cs typeface="Roboto"/>
              </a:rPr>
              <a:t>lookup.</a:t>
            </a:r>
            <a:endParaRPr sz="2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 dirty="0">
              <a:latin typeface="Roboto"/>
              <a:cs typeface="Roboto"/>
            </a:endParaRPr>
          </a:p>
          <a:p>
            <a:pPr marL="12700">
              <a:lnSpc>
                <a:spcPts val="3710"/>
              </a:lnSpc>
            </a:pP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TASK</a:t>
            </a:r>
            <a:r>
              <a:rPr sz="3100" b="1" spc="-48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85" dirty="0">
                <a:solidFill>
                  <a:srgbClr val="365E90"/>
                </a:solidFill>
                <a:latin typeface="Arial"/>
                <a:cs typeface="Arial"/>
              </a:rPr>
              <a:t>12</a:t>
            </a:r>
            <a:r>
              <a:rPr sz="3100" b="1" spc="-34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2750" b="1" spc="285" dirty="0">
                <a:solidFill>
                  <a:srgbClr val="365E90"/>
                </a:solidFill>
                <a:latin typeface="Arial"/>
                <a:cs typeface="Arial"/>
              </a:rPr>
              <a:t>–</a:t>
            </a:r>
            <a:r>
              <a:rPr sz="2750" b="1" spc="-1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Day-</a:t>
            </a:r>
            <a:r>
              <a:rPr sz="3100" b="1" dirty="0">
                <a:solidFill>
                  <a:srgbClr val="365E90"/>
                </a:solidFill>
                <a:latin typeface="Arial"/>
                <a:cs typeface="Arial"/>
              </a:rPr>
              <a:t>4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05" dirty="0">
                <a:solidFill>
                  <a:srgbClr val="365E90"/>
                </a:solidFill>
                <a:latin typeface="Arial"/>
                <a:cs typeface="Arial"/>
              </a:rPr>
              <a:t>Design</a:t>
            </a:r>
            <a:r>
              <a:rPr sz="3100" b="1" spc="-24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80" dirty="0">
                <a:solidFill>
                  <a:srgbClr val="365E90"/>
                </a:solidFill>
                <a:latin typeface="Arial"/>
                <a:cs typeface="Arial"/>
              </a:rPr>
              <a:t>Challenge:</a:t>
            </a:r>
            <a:r>
              <a:rPr sz="3100" b="1" spc="-114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20" dirty="0">
                <a:solidFill>
                  <a:srgbClr val="365E90"/>
                </a:solidFill>
                <a:latin typeface="Arial"/>
                <a:cs typeface="Arial"/>
              </a:rPr>
              <a:t>Re-</a:t>
            </a:r>
            <a:r>
              <a:rPr sz="3100" b="1" spc="-240" dirty="0">
                <a:solidFill>
                  <a:srgbClr val="365E90"/>
                </a:solidFill>
                <a:latin typeface="Arial"/>
                <a:cs typeface="Arial"/>
              </a:rPr>
              <a:t>evaluate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320" dirty="0">
                <a:solidFill>
                  <a:srgbClr val="365E90"/>
                </a:solidFill>
                <a:latin typeface="Arial"/>
                <a:cs typeface="Arial"/>
              </a:rPr>
              <a:t>and</a:t>
            </a:r>
            <a:r>
              <a:rPr sz="3100" b="1" spc="-2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Adapt</a:t>
            </a:r>
            <a:endParaRPr sz="3100" dirty="0">
              <a:latin typeface="Arial"/>
              <a:cs typeface="Arial"/>
            </a:endParaRPr>
          </a:p>
          <a:p>
            <a:pPr marL="12700" marR="306705" algn="just">
              <a:lnSpc>
                <a:spcPts val="2700"/>
              </a:lnSpc>
              <a:spcBef>
                <a:spcPts val="229"/>
              </a:spcBef>
            </a:pPr>
            <a:r>
              <a:rPr sz="2400" spc="-280" dirty="0">
                <a:latin typeface="Roboto"/>
                <a:cs typeface="Roboto"/>
              </a:rPr>
              <a:t>New</a:t>
            </a:r>
            <a:r>
              <a:rPr sz="2400" spc="-19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requirements:</a:t>
            </a:r>
            <a:r>
              <a:rPr sz="2400" spc="2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add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e-</a:t>
            </a:r>
            <a:r>
              <a:rPr sz="2400" spc="-200" dirty="0">
                <a:latin typeface="Roboto"/>
                <a:cs typeface="Roboto"/>
              </a:rPr>
              <a:t>bikes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with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flat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fee,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delivery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vans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charged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double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car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rate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during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9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75" dirty="0">
                <a:latin typeface="Roboto"/>
                <a:cs typeface="Roboto"/>
              </a:rPr>
              <a:t>AM</a:t>
            </a:r>
            <a:r>
              <a:rPr sz="2000" spc="-275" dirty="0">
                <a:latin typeface="Roboto"/>
                <a:cs typeface="Roboto"/>
              </a:rPr>
              <a:t>–</a:t>
            </a:r>
            <a:r>
              <a:rPr sz="2400" spc="-229" dirty="0">
                <a:latin typeface="Roboto"/>
                <a:cs typeface="Roboto"/>
              </a:rPr>
              <a:t>5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PM,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visitor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one-</a:t>
            </a:r>
            <a:r>
              <a:rPr sz="2400" spc="-204" dirty="0">
                <a:latin typeface="Roboto"/>
                <a:cs typeface="Roboto"/>
              </a:rPr>
              <a:t>day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passes,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five-</a:t>
            </a:r>
            <a:r>
              <a:rPr sz="2400" spc="-180" dirty="0">
                <a:latin typeface="Roboto"/>
                <a:cs typeface="Roboto"/>
              </a:rPr>
              <a:t>floor</a:t>
            </a:r>
            <a:r>
              <a:rPr sz="2400" spc="-10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facility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with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unequal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slot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counts.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The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jagged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array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already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supports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unequal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floor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sizes.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EBike,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DeliveryVan,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OneDayPass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extend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the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design;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ParkingFacility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and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fee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handling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still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need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to</a:t>
            </a:r>
            <a:endParaRPr sz="2400" dirty="0">
              <a:latin typeface="Roboto"/>
              <a:cs typeface="Roboto"/>
            </a:endParaRPr>
          </a:p>
          <a:p>
            <a:pPr marL="12700" algn="just">
              <a:lnSpc>
                <a:spcPts val="2635"/>
              </a:lnSpc>
            </a:pPr>
            <a:r>
              <a:rPr sz="2400" spc="-229" dirty="0">
                <a:latin typeface="Roboto"/>
                <a:cs typeface="Roboto"/>
              </a:rPr>
              <a:t>recognise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eligibility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new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pricing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policy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75" dirty="0">
                <a:latin typeface="Roboto"/>
                <a:cs typeface="Roboto"/>
              </a:rPr>
              <a:t>carefully.</a:t>
            </a:r>
            <a:endParaRPr sz="2400" dirty="0">
              <a:latin typeface="Roboto"/>
              <a:cs typeface="Roboto"/>
            </a:endParaRPr>
          </a:p>
          <a:p>
            <a:pPr marL="12700" marR="266700">
              <a:lnSpc>
                <a:spcPct val="92500"/>
              </a:lnSpc>
              <a:spcBef>
                <a:spcPts val="1930"/>
              </a:spcBef>
            </a:pPr>
            <a:r>
              <a:rPr sz="2400" spc="-215" dirty="0">
                <a:latin typeface="Roboto"/>
                <a:cs typeface="Roboto"/>
              </a:rPr>
              <a:t>Evaluation: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inheritance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lets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new</a:t>
            </a:r>
            <a:r>
              <a:rPr sz="2400" spc="-2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category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be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added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with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subclass,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special</a:t>
            </a:r>
            <a:r>
              <a:rPr sz="2400" spc="10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time-</a:t>
            </a:r>
            <a:r>
              <a:rPr sz="2400" spc="-260" dirty="0">
                <a:latin typeface="Roboto"/>
                <a:cs typeface="Roboto"/>
              </a:rPr>
              <a:t>based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rules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in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90" dirty="0">
                <a:latin typeface="Roboto"/>
                <a:cs typeface="Roboto"/>
              </a:rPr>
              <a:t>subclasses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become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scattered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rules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grow.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A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stronger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future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design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would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use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PricingRule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interface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separate </a:t>
            </a:r>
            <a:r>
              <a:rPr sz="2400" spc="-215" dirty="0">
                <a:latin typeface="Roboto"/>
                <a:cs typeface="Roboto"/>
              </a:rPr>
              <a:t>pricing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strategy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classes,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plus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explicit</a:t>
            </a:r>
            <a:r>
              <a:rPr sz="2400" spc="2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user/pass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eligibility.</a:t>
            </a:r>
            <a:r>
              <a:rPr sz="2400" spc="8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That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keeps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identity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separate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from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pricing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60" dirty="0">
                <a:latin typeface="Roboto"/>
                <a:cs typeface="Roboto"/>
              </a:rPr>
              <a:t>policy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reduces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changes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60" dirty="0">
                <a:latin typeface="Roboto"/>
                <a:cs typeface="Roboto"/>
              </a:rPr>
              <a:t>to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tested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vehicle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classes.</a:t>
            </a:r>
            <a:r>
              <a:rPr sz="2400" spc="6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sample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retains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inheritance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assignment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learning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ts val="2700"/>
              </a:lnSpc>
            </a:pPr>
            <a:r>
              <a:rPr sz="2400" spc="-210" dirty="0">
                <a:latin typeface="Roboto"/>
                <a:cs typeface="Roboto"/>
              </a:rPr>
              <a:t>objectives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demonstrates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new</a:t>
            </a:r>
            <a:r>
              <a:rPr sz="2400" spc="-26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categories,</a:t>
            </a:r>
            <a:r>
              <a:rPr sz="2400" spc="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9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notes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time-</a:t>
            </a:r>
            <a:r>
              <a:rPr sz="2400" spc="-240" dirty="0">
                <a:latin typeface="Roboto"/>
                <a:cs typeface="Roboto"/>
              </a:rPr>
              <a:t>window</a:t>
            </a:r>
            <a:r>
              <a:rPr sz="2400" spc="-27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pass-</a:t>
            </a:r>
            <a:r>
              <a:rPr sz="2400" spc="-160" dirty="0">
                <a:latin typeface="Roboto"/>
                <a:cs typeface="Roboto"/>
              </a:rPr>
              <a:t>eligibility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25" dirty="0">
                <a:latin typeface="Roboto"/>
                <a:cs typeface="Roboto"/>
              </a:rPr>
              <a:t>assumptions.</a:t>
            </a:r>
            <a:endParaRPr sz="2400" dirty="0">
              <a:latin typeface="Roboto"/>
              <a:cs typeface="Roboto"/>
            </a:endParaRPr>
          </a:p>
          <a:p>
            <a:pPr marL="12700" marR="786765">
              <a:lnSpc>
                <a:spcPts val="2600"/>
              </a:lnSpc>
              <a:spcBef>
                <a:spcPts val="2140"/>
              </a:spcBef>
            </a:pPr>
            <a:r>
              <a:rPr sz="2400" spc="-220" dirty="0">
                <a:latin typeface="Roboto"/>
                <a:cs typeface="Roboto"/>
              </a:rPr>
              <a:t>Adaptation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implemented:</a:t>
            </a:r>
            <a:r>
              <a:rPr sz="2400" spc="90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jagged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arrays,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EBike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155" dirty="0">
                <a:latin typeface="Roboto"/>
                <a:cs typeface="Roboto"/>
              </a:rPr>
              <a:t>flat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fee,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DeliveryVan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time-</a:t>
            </a:r>
            <a:r>
              <a:rPr sz="2400" spc="-240" dirty="0">
                <a:latin typeface="Roboto"/>
                <a:cs typeface="Roboto"/>
              </a:rPr>
              <a:t>window</a:t>
            </a:r>
            <a:r>
              <a:rPr sz="2400" spc="-15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multiplier,</a:t>
            </a:r>
            <a:r>
              <a:rPr sz="2400" spc="3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ParkingPass </a:t>
            </a:r>
            <a:r>
              <a:rPr sz="2400" spc="-204" dirty="0">
                <a:latin typeface="Roboto"/>
                <a:cs typeface="Roboto"/>
              </a:rPr>
              <a:t>interface,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MonthlyPass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OneDayPass.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Assumptions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for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unspecified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details: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e-</a:t>
            </a:r>
            <a:r>
              <a:rPr sz="2400" spc="-200" dirty="0">
                <a:latin typeface="Roboto"/>
                <a:cs typeface="Roboto"/>
              </a:rPr>
              <a:t>bike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flat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fee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Rs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65" dirty="0">
                <a:latin typeface="Roboto"/>
                <a:cs typeface="Roboto"/>
              </a:rPr>
              <a:t>20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per</a:t>
            </a:r>
            <a:endParaRPr sz="2400" dirty="0">
              <a:latin typeface="Roboto"/>
              <a:cs typeface="Roboto"/>
            </a:endParaRPr>
          </a:p>
          <a:p>
            <a:pPr marL="12700" marR="82550">
              <a:lnSpc>
                <a:spcPts val="2700"/>
              </a:lnSpc>
              <a:spcBef>
                <a:spcPts val="15"/>
              </a:spcBef>
            </a:pPr>
            <a:r>
              <a:rPr sz="2400" spc="-235" dirty="0">
                <a:latin typeface="Roboto"/>
                <a:cs typeface="Roboto"/>
              </a:rPr>
              <a:t>non-</a:t>
            </a:r>
            <a:r>
              <a:rPr sz="2400" spc="-215" dirty="0">
                <a:latin typeface="Roboto"/>
                <a:cs typeface="Roboto"/>
              </a:rPr>
              <a:t>zero-</a:t>
            </a:r>
            <a:r>
              <a:rPr sz="2400" spc="-225" dirty="0">
                <a:latin typeface="Roboto"/>
                <a:cs typeface="Roboto"/>
              </a:rPr>
              <a:t>duration</a:t>
            </a:r>
            <a:r>
              <a:rPr sz="2400" spc="-5" dirty="0">
                <a:latin typeface="Roboto"/>
                <a:cs typeface="Roboto"/>
              </a:rPr>
              <a:t> </a:t>
            </a:r>
            <a:r>
              <a:rPr sz="2400" spc="-165" dirty="0">
                <a:latin typeface="Roboto"/>
                <a:cs typeface="Roboto"/>
              </a:rPr>
              <a:t>visit;</a:t>
            </a:r>
            <a:r>
              <a:rPr sz="2400" spc="-12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delivery-</a:t>
            </a:r>
            <a:r>
              <a:rPr sz="2400" spc="-229" dirty="0">
                <a:latin typeface="Roboto"/>
                <a:cs typeface="Roboto"/>
              </a:rPr>
              <a:t>van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double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rate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applies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all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170" dirty="0">
                <a:latin typeface="Roboto"/>
                <a:cs typeface="Roboto"/>
              </a:rPr>
              <a:t>billable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hours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when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entry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occurs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during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9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AM</a:t>
            </a:r>
            <a:r>
              <a:rPr sz="2000" spc="-245" dirty="0">
                <a:latin typeface="Roboto"/>
                <a:cs typeface="Roboto"/>
              </a:rPr>
              <a:t>–</a:t>
            </a:r>
            <a:r>
              <a:rPr sz="2400" spc="-235" dirty="0">
                <a:latin typeface="Roboto"/>
                <a:cs typeface="Roboto"/>
              </a:rPr>
              <a:t>5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70" dirty="0">
                <a:latin typeface="Roboto"/>
                <a:cs typeface="Roboto"/>
              </a:rPr>
              <a:t>PM;</a:t>
            </a:r>
            <a:r>
              <a:rPr sz="2400" spc="-15" dirty="0">
                <a:latin typeface="Roboto"/>
                <a:cs typeface="Roboto"/>
              </a:rPr>
              <a:t> </a:t>
            </a:r>
            <a:r>
              <a:rPr sz="2400" spc="-50" dirty="0">
                <a:latin typeface="Roboto"/>
                <a:cs typeface="Roboto"/>
              </a:rPr>
              <a:t>a </a:t>
            </a:r>
            <a:r>
              <a:rPr sz="2400" spc="-200" dirty="0">
                <a:latin typeface="Roboto"/>
                <a:cs typeface="Roboto"/>
              </a:rPr>
              <a:t>valid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supplied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waives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parking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fee.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Ask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faculty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45" dirty="0">
                <a:latin typeface="Roboto"/>
                <a:cs typeface="Roboto"/>
              </a:rPr>
              <a:t>whether</a:t>
            </a:r>
            <a:r>
              <a:rPr sz="2400" spc="-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intended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rule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should</a:t>
            </a:r>
            <a:r>
              <a:rPr sz="2400" spc="-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prorate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only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10" dirty="0">
                <a:latin typeface="Roboto"/>
                <a:cs typeface="Roboto"/>
              </a:rPr>
              <a:t>hours</a:t>
            </a:r>
            <a:endParaRPr sz="2400" dirty="0">
              <a:latin typeface="Roboto"/>
              <a:cs typeface="Roboto"/>
            </a:endParaRPr>
          </a:p>
          <a:p>
            <a:pPr marL="12700">
              <a:lnSpc>
                <a:spcPts val="2535"/>
              </a:lnSpc>
            </a:pPr>
            <a:r>
              <a:rPr sz="2400" spc="-195" dirty="0">
                <a:latin typeface="Roboto"/>
                <a:cs typeface="Roboto"/>
              </a:rPr>
              <a:t>inside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window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restrict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monthly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passes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students/staff</a:t>
            </a:r>
            <a:r>
              <a:rPr sz="2400" spc="-12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one-</a:t>
            </a:r>
            <a:r>
              <a:rPr sz="2400" spc="-210" dirty="0">
                <a:latin typeface="Roboto"/>
                <a:cs typeface="Roboto"/>
              </a:rPr>
              <a:t>day</a:t>
            </a:r>
            <a:r>
              <a:rPr sz="2400" spc="-18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passes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to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35" dirty="0">
                <a:latin typeface="Roboto"/>
                <a:cs typeface="Roboto"/>
              </a:rPr>
              <a:t>visitors.</a:t>
            </a:r>
            <a:endParaRPr sz="2400" dirty="0">
              <a:latin typeface="Roboto"/>
              <a:cs typeface="Roboto"/>
            </a:endParaRPr>
          </a:p>
          <a:p>
            <a:pPr marL="12700" marR="5080">
              <a:lnSpc>
                <a:spcPct val="92000"/>
              </a:lnSpc>
              <a:spcBef>
                <a:spcPts val="2045"/>
              </a:spcBef>
            </a:pPr>
            <a:r>
              <a:rPr sz="2400" spc="-245" dirty="0">
                <a:latin typeface="Roboto"/>
                <a:cs typeface="Roboto"/>
              </a:rPr>
              <a:t>Defence:</a:t>
            </a:r>
            <a:r>
              <a:rPr sz="2400" spc="7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system</a:t>
            </a:r>
            <a:r>
              <a:rPr sz="2400" spc="-135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supports</a:t>
            </a:r>
            <a:r>
              <a:rPr sz="2400" spc="-75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different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185" dirty="0">
                <a:latin typeface="Roboto"/>
                <a:cs typeface="Roboto"/>
              </a:rPr>
              <a:t>floor</a:t>
            </a:r>
            <a:r>
              <a:rPr sz="2400" spc="-17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capacities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without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changing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the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allocation</a:t>
            </a:r>
            <a:r>
              <a:rPr sz="2400" spc="-1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structure.</a:t>
            </a:r>
            <a:r>
              <a:rPr sz="2400" spc="65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New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types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can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5" dirty="0">
                <a:latin typeface="Roboto"/>
                <a:cs typeface="Roboto"/>
              </a:rPr>
              <a:t>be </a:t>
            </a:r>
            <a:r>
              <a:rPr sz="2400" spc="-250" dirty="0">
                <a:latin typeface="Roboto"/>
                <a:cs typeface="Roboto"/>
              </a:rPr>
              <a:t>added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as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subclasses,</a:t>
            </a:r>
            <a:r>
              <a:rPr sz="2400" spc="-9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but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a</a:t>
            </a:r>
            <a:r>
              <a:rPr sz="2400" spc="-2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pricing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strategy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would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scale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10" dirty="0">
                <a:latin typeface="Roboto"/>
                <a:cs typeface="Roboto"/>
              </a:rPr>
              <a:t>better</a:t>
            </a:r>
            <a:r>
              <a:rPr sz="2400" spc="-65" dirty="0">
                <a:latin typeface="Roboto"/>
                <a:cs typeface="Roboto"/>
              </a:rPr>
              <a:t> </a:t>
            </a:r>
            <a:r>
              <a:rPr sz="2400" spc="-145" dirty="0">
                <a:latin typeface="Roboto"/>
                <a:cs typeface="Roboto"/>
              </a:rPr>
              <a:t>if</a:t>
            </a:r>
            <a:r>
              <a:rPr sz="2400" spc="-13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many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rules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are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introduced.</a:t>
            </a:r>
            <a:r>
              <a:rPr sz="2400" spc="5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Tests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should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0" dirty="0">
                <a:latin typeface="Roboto"/>
                <a:cs typeface="Roboto"/>
              </a:rPr>
              <a:t>confirm </a:t>
            </a:r>
            <a:r>
              <a:rPr sz="2400" spc="-215" dirty="0">
                <a:latin typeface="Roboto"/>
                <a:cs typeface="Roboto"/>
              </a:rPr>
              <a:t>the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new</a:t>
            </a:r>
            <a:r>
              <a:rPr sz="2400" spc="-27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types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and</a:t>
            </a:r>
            <a:r>
              <a:rPr sz="2400" spc="-40" dirty="0">
                <a:latin typeface="Roboto"/>
                <a:cs typeface="Roboto"/>
              </a:rPr>
              <a:t> </a:t>
            </a:r>
            <a:r>
              <a:rPr sz="2400" spc="-250" dirty="0">
                <a:latin typeface="Roboto"/>
                <a:cs typeface="Roboto"/>
              </a:rPr>
              <a:t>pass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dates;</a:t>
            </a:r>
            <a:r>
              <a:rPr sz="2400" spc="-20" dirty="0">
                <a:latin typeface="Roboto"/>
                <a:cs typeface="Roboto"/>
              </a:rPr>
              <a:t> </a:t>
            </a:r>
            <a:r>
              <a:rPr sz="2400" spc="-195" dirty="0">
                <a:latin typeface="Roboto"/>
                <a:cs typeface="Roboto"/>
              </a:rPr>
              <a:t>trade-</a:t>
            </a:r>
            <a:r>
              <a:rPr sz="2400" spc="-235" dirty="0">
                <a:latin typeface="Roboto"/>
                <a:cs typeface="Roboto"/>
              </a:rPr>
              <a:t>offs</a:t>
            </a:r>
            <a:r>
              <a:rPr sz="2400" spc="-80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include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extra</a:t>
            </a:r>
            <a:r>
              <a:rPr sz="2400" spc="-3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class</a:t>
            </a:r>
            <a:r>
              <a:rPr sz="2400" spc="-18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count</a:t>
            </a:r>
            <a:r>
              <a:rPr sz="2400" spc="-11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and</a:t>
            </a:r>
            <a:r>
              <a:rPr sz="2400" spc="-3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assumptions</a:t>
            </a:r>
            <a:r>
              <a:rPr sz="2400" spc="-190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that</a:t>
            </a:r>
            <a:r>
              <a:rPr sz="2400" dirty="0">
                <a:latin typeface="Roboto"/>
                <a:cs typeface="Roboto"/>
              </a:rPr>
              <a:t> </a:t>
            </a:r>
            <a:r>
              <a:rPr sz="2400" spc="-260" dirty="0">
                <a:latin typeface="Roboto"/>
                <a:cs typeface="Roboto"/>
              </a:rPr>
              <a:t>must</a:t>
            </a:r>
            <a:r>
              <a:rPr sz="2400" spc="-105" dirty="0">
                <a:latin typeface="Roboto"/>
                <a:cs typeface="Roboto"/>
              </a:rPr>
              <a:t> </a:t>
            </a:r>
            <a:r>
              <a:rPr sz="2400" spc="-235" dirty="0">
                <a:latin typeface="Roboto"/>
                <a:cs typeface="Roboto"/>
              </a:rPr>
              <a:t>be</a:t>
            </a:r>
            <a:r>
              <a:rPr sz="2400" spc="-145" dirty="0">
                <a:latin typeface="Roboto"/>
                <a:cs typeface="Roboto"/>
              </a:rPr>
              <a:t> </a:t>
            </a:r>
            <a:r>
              <a:rPr sz="2400" spc="-90" dirty="0">
                <a:latin typeface="Roboto"/>
                <a:cs typeface="Roboto"/>
              </a:rPr>
              <a:t>confirmed.</a:t>
            </a:r>
            <a:endParaRPr sz="2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3100" b="1" spc="-310" dirty="0">
                <a:solidFill>
                  <a:srgbClr val="365E90"/>
                </a:solidFill>
                <a:latin typeface="Arial"/>
                <a:cs typeface="Arial"/>
              </a:rPr>
              <a:t>UML</a:t>
            </a:r>
            <a:r>
              <a:rPr sz="3100" b="1" spc="-27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95" dirty="0">
                <a:solidFill>
                  <a:srgbClr val="365E90"/>
                </a:solidFill>
                <a:latin typeface="Arial"/>
                <a:cs typeface="Arial"/>
              </a:rPr>
              <a:t>Class</a:t>
            </a:r>
            <a:r>
              <a:rPr sz="3100" b="1" spc="-35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275" dirty="0">
                <a:solidFill>
                  <a:srgbClr val="365E90"/>
                </a:solidFill>
                <a:latin typeface="Arial"/>
                <a:cs typeface="Arial"/>
              </a:rPr>
              <a:t>Diagram</a:t>
            </a:r>
            <a:r>
              <a:rPr sz="3100" b="1" spc="-310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65" dirty="0">
                <a:solidFill>
                  <a:srgbClr val="365E90"/>
                </a:solidFill>
                <a:latin typeface="Arial"/>
                <a:cs typeface="Arial"/>
              </a:rPr>
              <a:t>(text</a:t>
            </a:r>
            <a:r>
              <a:rPr sz="3100" b="1" spc="-345" dirty="0">
                <a:solidFill>
                  <a:srgbClr val="365E90"/>
                </a:solidFill>
                <a:latin typeface="Arial"/>
                <a:cs typeface="Arial"/>
              </a:rPr>
              <a:t> </a:t>
            </a:r>
            <a:r>
              <a:rPr sz="3100" b="1" spc="-160" dirty="0">
                <a:solidFill>
                  <a:srgbClr val="365E90"/>
                </a:solidFill>
                <a:latin typeface="Arial"/>
                <a:cs typeface="Arial"/>
              </a:rPr>
              <a:t>representation)</a:t>
            </a:r>
            <a:endParaRPr sz="3100" dirty="0">
              <a:latin typeface="Arial"/>
              <a:cs typeface="Arial"/>
            </a:endParaRPr>
          </a:p>
          <a:p>
            <a:pPr marL="12700" marR="9036685">
              <a:lnSpc>
                <a:spcPct val="101600"/>
              </a:lnSpc>
              <a:spcBef>
                <a:spcPts val="90"/>
              </a:spcBef>
            </a:pPr>
            <a:r>
              <a:rPr sz="2050" spc="-210" dirty="0">
                <a:latin typeface="Roboto"/>
                <a:cs typeface="Roboto"/>
              </a:rPr>
              <a:t>Vehicle(abstract)&lt;|-</a:t>
            </a:r>
            <a:r>
              <a:rPr sz="2050" dirty="0">
                <a:latin typeface="Roboto"/>
                <a:cs typeface="Roboto"/>
              </a:rPr>
              <a:t>-</a:t>
            </a:r>
            <a:r>
              <a:rPr sz="2050" spc="-254" dirty="0">
                <a:latin typeface="Roboto"/>
                <a:cs typeface="Roboto"/>
              </a:rPr>
              <a:t>TwoWheeler&lt;|-</a:t>
            </a:r>
            <a:r>
              <a:rPr sz="2050" dirty="0">
                <a:latin typeface="Roboto"/>
                <a:cs typeface="Roboto"/>
              </a:rPr>
              <a:t>-</a:t>
            </a:r>
            <a:r>
              <a:rPr sz="2050" spc="-180" dirty="0">
                <a:latin typeface="Roboto"/>
                <a:cs typeface="Roboto"/>
              </a:rPr>
              <a:t>EBike </a:t>
            </a:r>
            <a:r>
              <a:rPr sz="2050" spc="-210" dirty="0">
                <a:latin typeface="Roboto"/>
                <a:cs typeface="Roboto"/>
              </a:rPr>
              <a:t>Vehicle(abstract)&lt;|-</a:t>
            </a:r>
            <a:r>
              <a:rPr sz="2050" dirty="0">
                <a:latin typeface="Roboto"/>
                <a:cs typeface="Roboto"/>
              </a:rPr>
              <a:t>-</a:t>
            </a:r>
            <a:r>
              <a:rPr sz="2050" spc="-225" dirty="0">
                <a:latin typeface="Roboto"/>
                <a:cs typeface="Roboto"/>
              </a:rPr>
              <a:t>Car&lt;|-</a:t>
            </a:r>
            <a:r>
              <a:rPr sz="2050" dirty="0">
                <a:latin typeface="Roboto"/>
                <a:cs typeface="Roboto"/>
              </a:rPr>
              <a:t>-</a:t>
            </a:r>
            <a:r>
              <a:rPr sz="2050" spc="-114" dirty="0">
                <a:latin typeface="Roboto"/>
                <a:cs typeface="Roboto"/>
              </a:rPr>
              <a:t>ElectricCar </a:t>
            </a:r>
            <a:r>
              <a:rPr sz="2050" spc="-225" dirty="0">
                <a:latin typeface="Roboto"/>
                <a:cs typeface="Roboto"/>
              </a:rPr>
              <a:t>Car&lt;|-</a:t>
            </a:r>
            <a:r>
              <a:rPr sz="2050" dirty="0">
                <a:latin typeface="Roboto"/>
                <a:cs typeface="Roboto"/>
              </a:rPr>
              <a:t>-</a:t>
            </a:r>
            <a:r>
              <a:rPr sz="2050" spc="-150" dirty="0">
                <a:latin typeface="Roboto"/>
                <a:cs typeface="Roboto"/>
              </a:rPr>
              <a:t>DeliveryVan</a:t>
            </a:r>
            <a:endParaRPr sz="2050" dirty="0">
              <a:latin typeface="Roboto"/>
              <a:cs typeface="Roboto"/>
            </a:endParaRPr>
          </a:p>
          <a:p>
            <a:pPr marL="12700" marR="9997440">
              <a:lnSpc>
                <a:spcPct val="101600"/>
              </a:lnSpc>
              <a:spcBef>
                <a:spcPts val="100"/>
              </a:spcBef>
            </a:pPr>
            <a:r>
              <a:rPr sz="2050" spc="-170" dirty="0">
                <a:latin typeface="Roboto"/>
                <a:cs typeface="Roboto"/>
              </a:rPr>
              <a:t>ElectricCar..|&gt;Chargeable </a:t>
            </a:r>
            <a:r>
              <a:rPr sz="2050" spc="-240" dirty="0">
                <a:latin typeface="Roboto"/>
                <a:cs typeface="Roboto"/>
              </a:rPr>
              <a:t>ParkingPass&lt;|..</a:t>
            </a:r>
            <a:r>
              <a:rPr sz="2050" spc="-100" dirty="0">
                <a:latin typeface="Roboto"/>
                <a:cs typeface="Roboto"/>
              </a:rPr>
              <a:t> </a:t>
            </a:r>
            <a:r>
              <a:rPr sz="2050" spc="-265" dirty="0">
                <a:latin typeface="Roboto"/>
                <a:cs typeface="Roboto"/>
              </a:rPr>
              <a:t>MonthlyPass </a:t>
            </a:r>
            <a:r>
              <a:rPr sz="2050" spc="-240" dirty="0">
                <a:latin typeface="Roboto"/>
                <a:cs typeface="Roboto"/>
              </a:rPr>
              <a:t>ParkingPass&lt;|..</a:t>
            </a:r>
            <a:r>
              <a:rPr sz="2050" spc="-100" dirty="0">
                <a:latin typeface="Roboto"/>
                <a:cs typeface="Roboto"/>
              </a:rPr>
              <a:t> </a:t>
            </a:r>
            <a:r>
              <a:rPr sz="2050" spc="-290" dirty="0">
                <a:latin typeface="Roboto"/>
                <a:cs typeface="Roboto"/>
              </a:rPr>
              <a:t>OneDayPass </a:t>
            </a:r>
            <a:r>
              <a:rPr sz="2050" spc="-204" dirty="0">
                <a:latin typeface="Roboto"/>
                <a:cs typeface="Roboto"/>
              </a:rPr>
              <a:t>ParkingFacility-</a:t>
            </a:r>
            <a:r>
              <a:rPr sz="2050" spc="-185" dirty="0">
                <a:latin typeface="Roboto"/>
                <a:cs typeface="Roboto"/>
              </a:rPr>
              <a:t>-</a:t>
            </a:r>
            <a:r>
              <a:rPr sz="2050" spc="-229" dirty="0">
                <a:latin typeface="Roboto"/>
                <a:cs typeface="Roboto"/>
              </a:rPr>
              <a:t>&gt;ParkingTicket </a:t>
            </a:r>
            <a:r>
              <a:rPr sz="2050" spc="-220" dirty="0">
                <a:latin typeface="Roboto"/>
                <a:cs typeface="Roboto"/>
              </a:rPr>
              <a:t>ParkingTicket-</a:t>
            </a:r>
            <a:r>
              <a:rPr sz="2050" spc="-185" dirty="0">
                <a:latin typeface="Roboto"/>
                <a:cs typeface="Roboto"/>
              </a:rPr>
              <a:t>-</a:t>
            </a:r>
            <a:r>
              <a:rPr sz="2050" spc="-100" dirty="0">
                <a:latin typeface="Roboto"/>
                <a:cs typeface="Roboto"/>
              </a:rPr>
              <a:t>&gt;Vehicle</a:t>
            </a:r>
            <a:endParaRPr sz="20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700" dirty="0">
              <a:latin typeface="Roboto"/>
              <a:cs typeface="Roboto"/>
            </a:endParaRPr>
          </a:p>
          <a:p>
            <a:pPr marL="12700" marR="444500" algn="just">
              <a:lnSpc>
                <a:spcPts val="2600"/>
              </a:lnSpc>
            </a:pPr>
            <a:r>
              <a:rPr sz="2400" spc="-210" dirty="0">
                <a:latin typeface="Roboto"/>
                <a:cs typeface="Roboto"/>
              </a:rPr>
              <a:t>Legend:&lt;|-</a:t>
            </a:r>
            <a:r>
              <a:rPr sz="2400" spc="-110" dirty="0">
                <a:latin typeface="Roboto"/>
                <a:cs typeface="Roboto"/>
              </a:rPr>
              <a:t>-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280" dirty="0">
                <a:latin typeface="Roboto"/>
                <a:cs typeface="Roboto"/>
              </a:rPr>
              <a:t>means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04" dirty="0">
                <a:latin typeface="Roboto"/>
                <a:cs typeface="Roboto"/>
              </a:rPr>
              <a:t>inheritance;</a:t>
            </a:r>
            <a:r>
              <a:rPr sz="2400" spc="-6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..|&gt;means </a:t>
            </a:r>
            <a:r>
              <a:rPr sz="2400" spc="-200" dirty="0">
                <a:latin typeface="Roboto"/>
                <a:cs typeface="Roboto"/>
              </a:rPr>
              <a:t>interface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implementation;</a:t>
            </a:r>
            <a:r>
              <a:rPr sz="2400" spc="-160" dirty="0">
                <a:latin typeface="Roboto"/>
                <a:cs typeface="Roboto"/>
              </a:rPr>
              <a:t> </a:t>
            </a:r>
            <a:r>
              <a:rPr sz="2400" spc="-75" dirty="0">
                <a:latin typeface="Roboto"/>
                <a:cs typeface="Roboto"/>
              </a:rPr>
              <a:t>-</a:t>
            </a:r>
            <a:r>
              <a:rPr sz="2400" spc="-175" dirty="0">
                <a:latin typeface="Roboto"/>
                <a:cs typeface="Roboto"/>
              </a:rPr>
              <a:t>-</a:t>
            </a:r>
            <a:r>
              <a:rPr sz="2400" spc="-275" dirty="0">
                <a:latin typeface="Roboto"/>
                <a:cs typeface="Roboto"/>
              </a:rPr>
              <a:t>&gt;means</a:t>
            </a:r>
            <a:r>
              <a:rPr sz="2400" spc="-114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association.</a:t>
            </a:r>
            <a:r>
              <a:rPr sz="2400" spc="15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A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neat</a:t>
            </a:r>
            <a:r>
              <a:rPr sz="2400" spc="-14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graphical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95" dirty="0">
                <a:latin typeface="Roboto"/>
                <a:cs typeface="Roboto"/>
              </a:rPr>
              <a:t>UML</a:t>
            </a:r>
            <a:r>
              <a:rPr sz="2400" spc="-85" dirty="0">
                <a:latin typeface="Roboto"/>
                <a:cs typeface="Roboto"/>
              </a:rPr>
              <a:t> </a:t>
            </a:r>
            <a:r>
              <a:rPr sz="2400" spc="-225" dirty="0">
                <a:latin typeface="Roboto"/>
                <a:cs typeface="Roboto"/>
              </a:rPr>
              <a:t>version</a:t>
            </a:r>
            <a:r>
              <a:rPr sz="2400" spc="-50" dirty="0">
                <a:latin typeface="Roboto"/>
                <a:cs typeface="Roboto"/>
              </a:rPr>
              <a:t> </a:t>
            </a:r>
            <a:r>
              <a:rPr sz="2400" spc="-254" dirty="0">
                <a:latin typeface="Roboto"/>
                <a:cs typeface="Roboto"/>
              </a:rPr>
              <a:t>may</a:t>
            </a:r>
            <a:r>
              <a:rPr sz="2400" spc="-210" dirty="0">
                <a:latin typeface="Roboto"/>
                <a:cs typeface="Roboto"/>
              </a:rPr>
              <a:t> </a:t>
            </a:r>
            <a:r>
              <a:rPr sz="2400" spc="-229" dirty="0">
                <a:latin typeface="Roboto"/>
                <a:cs typeface="Roboto"/>
              </a:rPr>
              <a:t>be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240" dirty="0">
                <a:latin typeface="Roboto"/>
                <a:cs typeface="Roboto"/>
              </a:rPr>
              <a:t>drawn</a:t>
            </a:r>
            <a:r>
              <a:rPr sz="2400" spc="-150" dirty="0">
                <a:latin typeface="Roboto"/>
                <a:cs typeface="Roboto"/>
              </a:rPr>
              <a:t> </a:t>
            </a:r>
            <a:r>
              <a:rPr sz="2400" spc="-220" dirty="0">
                <a:latin typeface="Roboto"/>
                <a:cs typeface="Roboto"/>
              </a:rPr>
              <a:t>from</a:t>
            </a:r>
            <a:r>
              <a:rPr sz="2400" spc="-165" dirty="0">
                <a:latin typeface="Roboto"/>
                <a:cs typeface="Roboto"/>
              </a:rPr>
              <a:t> </a:t>
            </a:r>
            <a:r>
              <a:rPr sz="2400" spc="-190" dirty="0">
                <a:latin typeface="Roboto"/>
                <a:cs typeface="Roboto"/>
              </a:rPr>
              <a:t>this</a:t>
            </a:r>
            <a:r>
              <a:rPr sz="2400" spc="-215" dirty="0">
                <a:latin typeface="Roboto"/>
                <a:cs typeface="Roboto"/>
              </a:rPr>
              <a:t> </a:t>
            </a:r>
            <a:r>
              <a:rPr sz="2400" spc="-200" dirty="0">
                <a:latin typeface="Roboto"/>
                <a:cs typeface="Roboto"/>
              </a:rPr>
              <a:t>structure</a:t>
            </a:r>
            <a:r>
              <a:rPr sz="2400" spc="-175" dirty="0">
                <a:latin typeface="Roboto"/>
                <a:cs typeface="Roboto"/>
              </a:rPr>
              <a:t> </a:t>
            </a:r>
            <a:r>
              <a:rPr sz="2400" spc="-180" dirty="0">
                <a:latin typeface="Roboto"/>
                <a:cs typeface="Roboto"/>
              </a:rPr>
              <a:t>for</a:t>
            </a:r>
            <a:r>
              <a:rPr sz="2400" spc="-200" dirty="0">
                <a:latin typeface="Roboto"/>
                <a:cs typeface="Roboto"/>
              </a:rPr>
              <a:t> </a:t>
            </a:r>
            <a:r>
              <a:rPr sz="2400" spc="-175" dirty="0">
                <a:latin typeface="Roboto"/>
                <a:cs typeface="Roboto"/>
              </a:rPr>
              <a:t>the </a:t>
            </a:r>
            <a:r>
              <a:rPr sz="2400" spc="-210" dirty="0">
                <a:latin typeface="Roboto"/>
                <a:cs typeface="Roboto"/>
              </a:rPr>
              <a:t>final</a:t>
            </a:r>
            <a:r>
              <a:rPr sz="2400" spc="50" dirty="0">
                <a:latin typeface="Roboto"/>
                <a:cs typeface="Roboto"/>
              </a:rPr>
              <a:t> </a:t>
            </a:r>
            <a:r>
              <a:rPr sz="2400" spc="-215" dirty="0">
                <a:latin typeface="Roboto"/>
                <a:cs typeface="Roboto"/>
              </a:rPr>
              <a:t>report.</a:t>
            </a:r>
            <a:endParaRPr sz="2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75"/>
              </a:spcBef>
            </a:pPr>
            <a:endParaRPr sz="20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2848</Words>
  <Application>Microsoft Office PowerPoint</Application>
  <PresentationFormat>Custom</PresentationFormat>
  <Paragraphs>148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Roboto</vt:lpstr>
      <vt:lpstr>Segoe UI Symbol</vt:lpstr>
      <vt:lpstr>Times New Roman</vt:lpstr>
      <vt:lpstr>Webdings</vt:lpstr>
      <vt:lpstr>Office Theme</vt:lpstr>
      <vt:lpstr>ASSIGNMENT 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Anushree S</cp:lastModifiedBy>
  <cp:revision>2</cp:revision>
  <dcterms:created xsi:type="dcterms:W3CDTF">2026-10-29T15:26:07Z</dcterms:created>
  <dcterms:modified xsi:type="dcterms:W3CDTF">2026-10-29T15:45:28Z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2026-10-29T00:00:00Z</vt:filetime>
  </property>
</Properties>
</file>